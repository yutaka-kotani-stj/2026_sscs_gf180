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61" r:id="rId2"/>
    <p:sldId id="262" r:id="rId3"/>
    <p:sldId id="273" r:id="rId4"/>
    <p:sldId id="289" r:id="rId5"/>
    <p:sldId id="277" r:id="rId6"/>
    <p:sldId id="275" r:id="rId7"/>
    <p:sldId id="286" r:id="rId8"/>
    <p:sldId id="278" r:id="rId9"/>
    <p:sldId id="283" r:id="rId10"/>
    <p:sldId id="290" r:id="rId11"/>
    <p:sldId id="291" r:id="rId12"/>
    <p:sldId id="280" r:id="rId13"/>
    <p:sldId id="293" r:id="rId14"/>
    <p:sldId id="292" r:id="rId15"/>
    <p:sldId id="284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48" autoAdjust="0"/>
    <p:restoredTop sz="83767" autoAdjust="0"/>
  </p:normalViewPr>
  <p:slideViewPr>
    <p:cSldViewPr snapToGrid="0">
      <p:cViewPr varScale="1">
        <p:scale>
          <a:sx n="71" d="100"/>
          <a:sy n="71" d="100"/>
        </p:scale>
        <p:origin x="256" y="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92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34B0-46C4-07AC-EB65-B355CD4E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06B21A-2A4D-8C08-46A3-C244F055A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ECDDB8-97FC-1173-A56E-A14CDC852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1C0750-5CD8-BFA1-E87C-86D55C0DF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540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6/1/2026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6/1/2026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6/1/2026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May 27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5024582"/>
            <a:ext cx="6575892" cy="1607572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Ashutosh Chakravarty</a:t>
            </a:r>
            <a:br>
              <a:rPr lang="en-US" altLang="ja-JP" dirty="0"/>
            </a:br>
            <a:r>
              <a:rPr lang="en-US" altLang="ja-JP" dirty="0"/>
              <a:t>  Cheng Fei</a:t>
            </a:r>
            <a:br>
              <a:rPr lang="en-US" altLang="ja-JP" dirty="0"/>
            </a:br>
            <a:r>
              <a:rPr lang="en-US" altLang="ja-JP" dirty="0"/>
              <a:t>  Fatima</a:t>
            </a:r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Block diagram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kumimoji="1" lang="en-US" altLang="ja-JP" dirty="0"/>
              <a:t>Circuit design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kumimoji="1" lang="en-US" altLang="ja-JP" dirty="0"/>
              <a:t>Layout</a:t>
            </a:r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B84-91A4-5FA5-F4A7-B96EDBED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0F0B80-2F68-04B7-BED2-1E3CB8B976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Goal</a:t>
            </a:r>
          </a:p>
          <a:p>
            <a:pPr lvl="1"/>
            <a:r>
              <a:rPr lang="en-US" altLang="ja-JP" sz="1800" dirty="0"/>
              <a:t>Creating general purpose PLL</a:t>
            </a:r>
          </a:p>
          <a:p>
            <a:pPr lvl="1"/>
            <a:r>
              <a:rPr lang="en-US" altLang="ja-JP" sz="1800" dirty="0"/>
              <a:t>Creating a part of FM Radio component</a:t>
            </a:r>
          </a:p>
          <a:p>
            <a:pPr marL="269875" lvl="1" indent="0">
              <a:buNone/>
            </a:pPr>
            <a:endParaRPr lang="en-US" altLang="ja-JP" sz="1800" dirty="0"/>
          </a:p>
          <a:p>
            <a:r>
              <a:rPr lang="en-US" altLang="ja-JP" dirty="0"/>
              <a:t>Design </a:t>
            </a:r>
          </a:p>
          <a:p>
            <a:pPr lvl="1"/>
            <a:r>
              <a:rPr lang="en-US" altLang="ja-JP" dirty="0"/>
              <a:t>PLL has two mode</a:t>
            </a:r>
          </a:p>
          <a:p>
            <a:pPr lvl="1"/>
            <a:r>
              <a:rPr lang="en-US" altLang="ja-JP" dirty="0"/>
              <a:t>Clock multiplier mode</a:t>
            </a:r>
          </a:p>
          <a:p>
            <a:pPr lvl="1"/>
            <a:r>
              <a:rPr lang="en-US" altLang="ja-JP" dirty="0"/>
              <a:t>FM demodulator mode</a:t>
            </a:r>
          </a:p>
          <a:p>
            <a:r>
              <a:rPr lang="en-US" altLang="ja-JP" dirty="0"/>
              <a:t>Application</a:t>
            </a:r>
          </a:p>
          <a:p>
            <a:pPr lvl="1"/>
            <a:r>
              <a:rPr lang="en-US" altLang="ja-JP" dirty="0"/>
              <a:t>Digital clock generator &amp; FM Radio </a:t>
            </a:r>
          </a:p>
          <a:p>
            <a:r>
              <a:rPr lang="en-US" altLang="ja-JP" dirty="0"/>
              <a:t>Reference</a:t>
            </a:r>
          </a:p>
          <a:p>
            <a:pPr lvl="1"/>
            <a:r>
              <a:rPr lang="en-US" altLang="ja-JP" dirty="0"/>
              <a:t>TI CD4046B Application Report SCHA002A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4B287BD-315D-1606-8BF7-7BD57F81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39F5BCC-79D0-3368-CDE1-FFD87F01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5068E267-9B81-308E-8185-0A80F6744BF0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77235730-C10D-5B4E-ED56-8ED62F05CDD4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6999D317-0808-04EC-F0D0-A0009AC9AD4F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BEBE53-C7B4-373E-CDDD-5CFAC7ED2456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9AFBD6A1-1DC1-0935-2FE0-4A40A1B53D52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599360C-4935-7570-6A2E-DA87AD9BAE0E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631776F6-DC3A-5DA7-D6DF-868763DE8F3B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 err="1"/>
              <a:t>FMTuner</a:t>
            </a:r>
            <a:br>
              <a:rPr kumimoji="1" lang="en-US" altLang="ja-JP" sz="1200" dirty="0"/>
            </a:br>
            <a:r>
              <a:rPr kumimoji="1" lang="en-US" altLang="ja-JP" sz="1200" dirty="0"/>
              <a:t>&amp; LNA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32BE2E1-E7D8-C673-F0A9-D849289ECB5F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BC75AB89-0CA9-42AB-2D79-E7C0E2CE8FF4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EA9C300-720B-78E1-F201-8B00554FF31A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7F6259F8-E100-CBA1-1672-7D84D4951BC6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/>
              <a:t>65-80MHz</a:t>
            </a:r>
            <a:endParaRPr kumimoji="1" lang="ja-JP" altLang="en-US" sz="1200" b="1" dirty="0" err="1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774BBEB8-CE0A-DDBE-B671-372BF1E4672B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781BB6DB-CBB4-9AD1-0272-655FF719A1F7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44E7FC6E-723B-9E51-6FDC-E179CD05FD4B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D28AC3AE-40B1-FD22-90FC-9D1B6A3DCB7E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4B55828E-7814-5910-A78A-7A16989A7EAA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A7005717-B78B-444E-CE52-06F97028211E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A2520F0C-BAE6-7596-B23E-026E289D1BE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AA191022-523F-6609-26EA-687D5D64F92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907CA86C-BCAF-CCDA-FB52-42E40DF655B3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D26082CF-6240-65A8-5CAC-5CC1ADF3784A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DAD10B46-1394-3427-8021-AB60E3D3BCDE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23D5B0C3-EA72-E575-7EC3-241D237E703E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9BC7EA2C-1341-5085-C7AC-2169C6FCB83E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5C231CA1-68F8-1CC7-479C-9E3F46BF0222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B9C9A329-1E0F-1809-099C-0ABF5EB7C300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E4B2F23D-2729-0C3E-224A-48C57C7922BE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63D841C-B540-62DB-3FC8-DCA442A63658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36B152-A2C0-471C-03E4-670628769B80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133EF2-5652-10C7-C8D9-F3C0A0DFDC92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40BA82F-C4E9-8362-79A3-D76081C69AFC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D5F9D42-7396-1EC9-5C4B-10555362418A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976B84E9-6250-D8B6-BF75-C91300816F13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3D663EC1-D4A8-F8D4-CC6B-2B4F7E7E1665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D1F407D7-2383-A11B-207F-24352F0E5C6A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81021C49-ECCF-BDB8-953A-82490EAF7702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8662A64E-62BD-50A7-B4D7-5681D3B948E1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39AE72BE-8B47-FAD4-AA22-D1CD74AD5904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C0725C30-592D-7548-C5A0-7A4A4EC430D4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8D0DBBE5-5F12-0A08-BD51-9ED4A724DAA0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49DDC134-FAD1-C737-BBEE-7793C26034BA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D594D7D7-7BBB-0CFE-6B96-2D187F73D862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6333F0E6-DB5E-4EBA-B471-C6AFAB898038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2C2CB439-72C8-C613-168B-F2202D41AA5F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D8D9BCA0-0BCC-4457-F224-12160AF21215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B186E26D-6E91-7DD9-4638-05C1A2014DD1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8D2727D-2975-A8FD-3311-3501026468C7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27BC560B-2C8B-5D39-7EAB-DAB6D6589673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DD158E4E-BDD1-A7A1-2D11-35D605C31893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1D75605-793C-F31E-0D3E-24F9E3453AB7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35DC911C-5B84-7133-EA1E-A3D106D36DB4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85985AC-6EF3-C9A6-A451-BA00D9CB27FF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2x 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652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D5FA5DD-E72C-C960-5F57-C84FE5650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581170"/>
              </p:ext>
            </p:extLst>
          </p:nvPr>
        </p:nvGraphicFramePr>
        <p:xfrm>
          <a:off x="372571" y="1628647"/>
          <a:ext cx="11317405" cy="4378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481">
                  <a:extLst>
                    <a:ext uri="{9D8B030D-6E8A-4147-A177-3AD203B41FA5}">
                      <a16:colId xmlns:a16="http://schemas.microsoft.com/office/drawing/2014/main" val="3416857200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3127484855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1905853128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2716991041"/>
                    </a:ext>
                  </a:extLst>
                </a:gridCol>
                <a:gridCol w="2263481">
                  <a:extLst>
                    <a:ext uri="{9D8B030D-6E8A-4147-A177-3AD203B41FA5}">
                      <a16:colId xmlns:a16="http://schemas.microsoft.com/office/drawing/2014/main" val="107930941"/>
                    </a:ext>
                  </a:extLst>
                </a:gridCol>
              </a:tblGrid>
              <a:tr h="59576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Ashutosh Chakravarty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Cheng Fei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Fatima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27278"/>
                  </a:ext>
                </a:extLst>
              </a:tr>
              <a:tr h="538621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Discode</a:t>
                      </a:r>
                      <a:r>
                        <a:rPr kumimoji="1" lang="en-US" altLang="ja-JP" dirty="0"/>
                        <a:t> name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Teddy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 err="1"/>
                        <a:t>buttercutter</a:t>
                      </a:r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fa_84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548469"/>
                  </a:ext>
                </a:extLst>
              </a:tr>
              <a:tr h="57005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Academic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Bachelor of Computer Science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Bachelors in EE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PhD student specializing in Integrated Circuit (IC) Design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117524"/>
                  </a:ext>
                </a:extLst>
              </a:tr>
              <a:tr h="19097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dirty="0"/>
                        <a:t>Field Application engineer in Semiconductor company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Analog Design Engineer with tape out experience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Digital Design</a:t>
                      </a:r>
                      <a:r>
                        <a:rPr kumimoji="1" lang="ja-JP" altLang="en-US" dirty="0"/>
                        <a:t>　</a:t>
                      </a:r>
                      <a:r>
                        <a:rPr kumimoji="1" lang="en-US" altLang="ja-JP" dirty="0"/>
                        <a:t>Engineer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working with open-source semiconductor technologies, particularly the SG13G2 process. 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9165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F6B36A9B-AA9C-7D1D-57F0-C068BE51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19B233-9D18-55A5-407C-F42808E9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83301717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999um2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54683123"/>
              </p:ext>
            </p:extLst>
          </p:nvPr>
        </p:nvGraphicFramePr>
        <p:xfrm>
          <a:off x="6096000" y="1304924"/>
          <a:ext cx="5416866" cy="391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815B160-C694-B7BB-59D8-80550C14EF43}"/>
              </a:ext>
            </a:extLst>
          </p:cNvPr>
          <p:cNvGrpSpPr/>
          <p:nvPr/>
        </p:nvGrpSpPr>
        <p:grpSpPr>
          <a:xfrm>
            <a:off x="861794" y="1481138"/>
            <a:ext cx="10468412" cy="5208587"/>
            <a:chOff x="1549400" y="1481138"/>
            <a:chExt cx="10468412" cy="5208587"/>
          </a:xfrm>
        </p:grpSpPr>
        <p:sp>
          <p:nvSpPr>
            <p:cNvPr id="4" name="Rectangle 485">
              <a:extLst>
                <a:ext uri="{FF2B5EF4-FFF2-40B4-BE49-F238E27FC236}">
                  <a16:creationId xmlns:a16="http://schemas.microsoft.com/office/drawing/2014/main" id="{8E17A2C9-8285-541D-A4E7-A6308A77F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125" y="4813300"/>
              <a:ext cx="692150" cy="1020763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5" name="Rectangle 485">
              <a:extLst>
                <a:ext uri="{FF2B5EF4-FFF2-40B4-BE49-F238E27FC236}">
                  <a16:creationId xmlns:a16="http://schemas.microsoft.com/office/drawing/2014/main" id="{8A19E09C-0CA2-0DF3-C7C7-71571CAA3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01531" y="2066925"/>
              <a:ext cx="2533643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6" name="Text Box 42">
              <a:extLst>
                <a:ext uri="{FF2B5EF4-FFF2-40B4-BE49-F238E27FC236}">
                  <a16:creationId xmlns:a16="http://schemas.microsoft.com/office/drawing/2014/main" id="{CAA16CE6-B060-D4A6-8FA5-E675EAF85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84237" y="1727200"/>
              <a:ext cx="628650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VCO</a:t>
              </a:r>
            </a:p>
          </p:txBody>
        </p:sp>
        <p:sp>
          <p:nvSpPr>
            <p:cNvPr id="7" name="Rectangle 485">
              <a:extLst>
                <a:ext uri="{FF2B5EF4-FFF2-40B4-BE49-F238E27FC236}">
                  <a16:creationId xmlns:a16="http://schemas.microsoft.com/office/drawing/2014/main" id="{C1D72A0E-E3C0-EDFC-9266-40313D46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2079625"/>
              <a:ext cx="2284412" cy="229870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8" name="Rectangle 485">
              <a:extLst>
                <a:ext uri="{FF2B5EF4-FFF2-40B4-BE49-F238E27FC236}">
                  <a16:creationId xmlns:a16="http://schemas.microsoft.com/office/drawing/2014/main" id="{E2D8B1D2-AE55-C3F9-D9FA-066B54DF4D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1675" y="2079625"/>
              <a:ext cx="727075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9" name="Rectangle 485">
              <a:extLst>
                <a:ext uri="{FF2B5EF4-FFF2-40B4-BE49-F238E27FC236}">
                  <a16:creationId xmlns:a16="http://schemas.microsoft.com/office/drawing/2014/main" id="{7B8826BA-54FD-E5B5-0104-99B978E01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7463" y="2079625"/>
              <a:ext cx="1598612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cxnSp>
          <p:nvCxnSpPr>
            <p:cNvPr id="2060" name="Straight Connector 19">
              <a:extLst>
                <a:ext uri="{FF2B5EF4-FFF2-40B4-BE49-F238E27FC236}">
                  <a16:creationId xmlns:a16="http://schemas.microsoft.com/office/drawing/2014/main" id="{AD6C69FD-6CB3-E42C-FDC4-60527FA5B320}"/>
                </a:ext>
              </a:extLst>
            </p:cNvPr>
            <p:cNvCxnSpPr>
              <a:cxnSpLocks noChangeShapeType="1"/>
              <a:stCxn id="2141" idx="2"/>
              <a:endCxn id="2136" idx="0"/>
            </p:cNvCxnSpPr>
            <p:nvPr/>
          </p:nvCxnSpPr>
          <p:spPr bwMode="auto">
            <a:xfrm flipV="1">
              <a:off x="4265417" y="2641683"/>
              <a:ext cx="153176" cy="268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61" name="Line 341">
              <a:extLst>
                <a:ext uri="{FF2B5EF4-FFF2-40B4-BE49-F238E27FC236}">
                  <a16:creationId xmlns:a16="http://schemas.microsoft.com/office/drawing/2014/main" id="{10EE63AF-E50E-DDC8-4B47-7D2AF6551DA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3385775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2" name="TextBox 2">
              <a:extLst>
                <a:ext uri="{FF2B5EF4-FFF2-40B4-BE49-F238E27FC236}">
                  <a16:creationId xmlns:a16="http://schemas.microsoft.com/office/drawing/2014/main" id="{5076CE53-5F56-6B10-70C3-14E3A10324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0820" y="2725627"/>
              <a:ext cx="304837" cy="523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2800"/>
                <a:t>-</a:t>
              </a:r>
            </a:p>
          </p:txBody>
        </p:sp>
        <p:sp>
          <p:nvSpPr>
            <p:cNvPr id="2063" name="Oval 339">
              <a:extLst>
                <a:ext uri="{FF2B5EF4-FFF2-40B4-BE49-F238E27FC236}">
                  <a16:creationId xmlns:a16="http://schemas.microsoft.com/office/drawing/2014/main" id="{9C4AED35-290D-754D-1380-F5F66BA90B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746004" y="2366987"/>
              <a:ext cx="549282" cy="54936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64" name="Line 340">
              <a:extLst>
                <a:ext uri="{FF2B5EF4-FFF2-40B4-BE49-F238E27FC236}">
                  <a16:creationId xmlns:a16="http://schemas.microsoft.com/office/drawing/2014/main" id="{009F5F9B-984A-2964-D5F4-950D32BA05F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2653928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5" name="Text Box 346">
              <a:extLst>
                <a:ext uri="{FF2B5EF4-FFF2-40B4-BE49-F238E27FC236}">
                  <a16:creationId xmlns:a16="http://schemas.microsoft.com/office/drawing/2014/main" id="{B4558F0A-5E98-3B4D-4792-4D07B5214D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2793179" y="2339779"/>
              <a:ext cx="450856" cy="64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/>
                <a:t>+</a:t>
              </a:r>
            </a:p>
          </p:txBody>
        </p:sp>
        <p:sp>
          <p:nvSpPr>
            <p:cNvPr id="2066" name="Freeform 357">
              <a:extLst>
                <a:ext uri="{FF2B5EF4-FFF2-40B4-BE49-F238E27FC236}">
                  <a16:creationId xmlns:a16="http://schemas.microsoft.com/office/drawing/2014/main" id="{3DB0B748-2EFF-0DCA-BC6A-4FEC2D98CAF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2563439" y="2641672"/>
              <a:ext cx="914412" cy="457279"/>
            </a:xfrm>
            <a:custGeom>
              <a:avLst/>
              <a:gdLst>
                <a:gd name="T0" fmla="*/ 0 w 576"/>
                <a:gd name="T1" fmla="*/ 725805000 h 288"/>
                <a:gd name="T2" fmla="*/ 725805000 w 576"/>
                <a:gd name="T3" fmla="*/ 0 h 288"/>
                <a:gd name="T4" fmla="*/ 1451610000 w 576"/>
                <a:gd name="T5" fmla="*/ 725805000 h 288"/>
                <a:gd name="T6" fmla="*/ 0 w 576"/>
                <a:gd name="T7" fmla="*/ 725805000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067" name="Freeform 229">
              <a:extLst>
                <a:ext uri="{FF2B5EF4-FFF2-40B4-BE49-F238E27FC236}">
                  <a16:creationId xmlns:a16="http://schemas.microsoft.com/office/drawing/2014/main" id="{005C19B5-71E8-F21B-6E2C-6AADFE576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5125" y="2474913"/>
              <a:ext cx="534988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2068" name="直線矢印コネクタ 17">
              <a:extLst>
                <a:ext uri="{FF2B5EF4-FFF2-40B4-BE49-F238E27FC236}">
                  <a16:creationId xmlns:a16="http://schemas.microsoft.com/office/drawing/2014/main" id="{4DD0829E-A212-59D1-737D-08AE99C29D94}"/>
                </a:ext>
              </a:extLst>
            </p:cNvPr>
            <p:cNvCxnSpPr>
              <a:cxnSpLocks noChangeShapeType="1"/>
              <a:stCxn id="2067" idx="3"/>
              <a:endCxn id="2063" idx="6"/>
            </p:cNvCxnSpPr>
            <p:nvPr/>
          </p:nvCxnSpPr>
          <p:spPr bwMode="auto">
            <a:xfrm>
              <a:off x="2170783" y="2638467"/>
              <a:ext cx="575221" cy="3205"/>
            </a:xfrm>
            <a:prstGeom prst="straightConnector1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69" name="グループ化 18">
              <a:extLst>
                <a:ext uri="{FF2B5EF4-FFF2-40B4-BE49-F238E27FC236}">
                  <a16:creationId xmlns:a16="http://schemas.microsoft.com/office/drawing/2014/main" id="{E1030C5D-0429-1951-B565-25E7CBE6BD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1005" y="2276004"/>
              <a:ext cx="914412" cy="733551"/>
              <a:chOff x="2744726" y="3298865"/>
              <a:chExt cx="914400" cy="733425"/>
            </a:xfrm>
          </p:grpSpPr>
          <p:grpSp>
            <p:nvGrpSpPr>
              <p:cNvPr id="2138" name="Group 864">
                <a:extLst>
                  <a:ext uri="{FF2B5EF4-FFF2-40B4-BE49-F238E27FC236}">
                    <a16:creationId xmlns:a16="http://schemas.microsoft.com/office/drawing/2014/main" id="{DD15F0CD-0BD0-84E0-A897-D2C1CD49BB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44726" y="3298865"/>
                <a:ext cx="914400" cy="733425"/>
                <a:chOff x="1843" y="1698"/>
                <a:chExt cx="576" cy="462"/>
              </a:xfrm>
            </p:grpSpPr>
            <p:grpSp>
              <p:nvGrpSpPr>
                <p:cNvPr id="2140" name="Group 60">
                  <a:extLst>
                    <a:ext uri="{FF2B5EF4-FFF2-40B4-BE49-F238E27FC236}">
                      <a16:creationId xmlns:a16="http://schemas.microsoft.com/office/drawing/2014/main" id="{9AF6FFAA-AC91-6FE2-34DA-EE2A61C17A8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42" name="Line 55">
                    <a:extLst>
                      <a:ext uri="{FF2B5EF4-FFF2-40B4-BE49-F238E27FC236}">
                        <a16:creationId xmlns:a16="http://schemas.microsoft.com/office/drawing/2014/main" id="{1F82F3FA-37BC-DDB7-E353-7857211809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43" name="AutoShape 56">
                    <a:extLst>
                      <a:ext uri="{FF2B5EF4-FFF2-40B4-BE49-F238E27FC236}">
                        <a16:creationId xmlns:a16="http://schemas.microsoft.com/office/drawing/2014/main" id="{E7853F79-96A4-148F-98C0-485DF6E3BA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41" name="Freeform 863">
                  <a:extLst>
                    <a:ext uri="{FF2B5EF4-FFF2-40B4-BE49-F238E27FC236}">
                      <a16:creationId xmlns:a16="http://schemas.microsoft.com/office/drawing/2014/main" id="{7840A8EC-08AE-B446-64E8-D86429E776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2139" name="Text Box 42">
                <a:extLst>
                  <a:ext uri="{FF2B5EF4-FFF2-40B4-BE49-F238E27FC236}">
                    <a16:creationId xmlns:a16="http://schemas.microsoft.com/office/drawing/2014/main" id="{88A34F3A-1D08-18C7-DFC4-A3CE2CC68E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3150" y="3389808"/>
                <a:ext cx="308094" cy="523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400"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>
                    <a:cs typeface="Times New Roman" panose="02020603050405020304" pitchFamily="18" charset="0"/>
                  </a:rPr>
                </a:br>
                <a:r>
                  <a:rPr lang="en-US" altLang="ja-JP" sz="14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π</a:t>
                </a:r>
                <a:endParaRPr lang="en-US" altLang="en-US" sz="1400"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0" name="Text Box 42">
              <a:extLst>
                <a:ext uri="{FF2B5EF4-FFF2-40B4-BE49-F238E27FC236}">
                  <a16:creationId xmlns:a16="http://schemas.microsoft.com/office/drawing/2014/main" id="{BC5A717B-5638-1CC2-112D-322467F3D3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1925" y="2132013"/>
              <a:ext cx="620713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Duty</a:t>
              </a:r>
              <a:br>
                <a:rPr lang="en-US" altLang="en-US" sz="12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-1</a:t>
              </a:r>
              <a:r>
                <a:rPr lang="ja-JP" altLang="en-US" sz="1200" dirty="0">
                  <a:latin typeface="+mj-lt"/>
                  <a:cs typeface="Times New Roman" panose="02020603050405020304" pitchFamily="18" charset="0"/>
                </a:rPr>
                <a:t> </a:t>
              </a:r>
              <a:r>
                <a:rPr lang="en-US" altLang="ja-JP" sz="1200" dirty="0">
                  <a:latin typeface="+mj-lt"/>
                  <a:cs typeface="Times New Roman" panose="02020603050405020304" pitchFamily="18" charset="0"/>
                </a:rPr>
                <a:t>to 1</a:t>
              </a:r>
              <a:endParaRPr lang="en-US" altLang="en-US" sz="1200" dirty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71" name="グループ化 20">
              <a:extLst>
                <a:ext uri="{FF2B5EF4-FFF2-40B4-BE49-F238E27FC236}">
                  <a16:creationId xmlns:a16="http://schemas.microsoft.com/office/drawing/2014/main" id="{4B7B0CD5-E547-15E1-A33A-3A7FB9DE0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18593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32" name="Group 864">
                <a:extLst>
                  <a:ext uri="{FF2B5EF4-FFF2-40B4-BE49-F238E27FC236}">
                    <a16:creationId xmlns:a16="http://schemas.microsoft.com/office/drawing/2014/main" id="{66AE247B-2C59-8CB5-722D-58A1F86770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34" name="Group 60">
                  <a:extLst>
                    <a:ext uri="{FF2B5EF4-FFF2-40B4-BE49-F238E27FC236}">
                      <a16:creationId xmlns:a16="http://schemas.microsoft.com/office/drawing/2014/main" id="{924A153C-CE3D-59BF-4EDA-BFAFB5DE335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36" name="Line 55">
                    <a:extLst>
                      <a:ext uri="{FF2B5EF4-FFF2-40B4-BE49-F238E27FC236}">
                        <a16:creationId xmlns:a16="http://schemas.microsoft.com/office/drawing/2014/main" id="{33C1D9D6-BF6C-AE05-B7F1-48F33C2AA9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7" name="AutoShape 56">
                    <a:extLst>
                      <a:ext uri="{FF2B5EF4-FFF2-40B4-BE49-F238E27FC236}">
                        <a16:creationId xmlns:a16="http://schemas.microsoft.com/office/drawing/2014/main" id="{D5DC36E7-C639-4B00-2880-A3AE92C8FB4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35" name="Freeform 863">
                  <a:extLst>
                    <a:ext uri="{FF2B5EF4-FFF2-40B4-BE49-F238E27FC236}">
                      <a16:creationId xmlns:a16="http://schemas.microsoft.com/office/drawing/2014/main" id="{B56AB403-5213-84BF-4554-62097B2898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83" name="Text Box 42">
                <a:extLst>
                  <a:ext uri="{FF2B5EF4-FFF2-40B4-BE49-F238E27FC236}">
                    <a16:creationId xmlns:a16="http://schemas.microsoft.com/office/drawing/2014/main" id="{12933A38-C536-561A-B63A-AC79A9C8D6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620" y="3496156"/>
                <a:ext cx="563556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Ibias</a:t>
                </a:r>
                <a:endParaRPr lang="en-US" altLang="en-US" sz="1600" dirty="0"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72" name="グループ化 21">
              <a:extLst>
                <a:ext uri="{FF2B5EF4-FFF2-40B4-BE49-F238E27FC236}">
                  <a16:creationId xmlns:a16="http://schemas.microsoft.com/office/drawing/2014/main" id="{311B4E66-73D2-3815-9EF9-23784637CE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61053" y="2279288"/>
              <a:ext cx="914412" cy="733551"/>
              <a:chOff x="5645385" y="3311463"/>
              <a:chExt cx="914400" cy="733425"/>
            </a:xfrm>
          </p:grpSpPr>
          <p:grpSp>
            <p:nvGrpSpPr>
              <p:cNvPr id="2126" name="Group 864">
                <a:extLst>
                  <a:ext uri="{FF2B5EF4-FFF2-40B4-BE49-F238E27FC236}">
                    <a16:creationId xmlns:a16="http://schemas.microsoft.com/office/drawing/2014/main" id="{D2D7ADBE-7F64-11D3-0E1B-1869A7F67C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45385" y="3311463"/>
                <a:ext cx="914400" cy="733425"/>
                <a:chOff x="1843" y="1698"/>
                <a:chExt cx="576" cy="462"/>
              </a:xfrm>
            </p:grpSpPr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76262B81-9408-6DAF-65DE-6F2F43FC0E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12" y="1768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29" name="Freeform 863">
                  <a:extLst>
                    <a:ext uri="{FF2B5EF4-FFF2-40B4-BE49-F238E27FC236}">
                      <a16:creationId xmlns:a16="http://schemas.microsoft.com/office/drawing/2014/main" id="{63EB9510-DBD9-D012-3884-B11410C3D8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7" name="Text Box 42">
                <a:extLst>
                  <a:ext uri="{FF2B5EF4-FFF2-40B4-BE49-F238E27FC236}">
                    <a16:creationId xmlns:a16="http://schemas.microsoft.com/office/drawing/2014/main" id="{8596F0C2-7D4E-6B58-1A2B-C1B2771A8F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01731" y="3517636"/>
                <a:ext cx="584192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Kvco</a:t>
                </a:r>
              </a:p>
            </p:txBody>
          </p:sp>
        </p:grpSp>
        <p:sp>
          <p:nvSpPr>
            <p:cNvPr id="2073" name="AutoShape 56">
              <a:extLst>
                <a:ext uri="{FF2B5EF4-FFF2-40B4-BE49-F238E27FC236}">
                  <a16:creationId xmlns:a16="http://schemas.microsoft.com/office/drawing/2014/main" id="{1DB70A1E-6239-A314-37E8-3AE362971C2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 flipH="1">
              <a:off x="5899957" y="5039921"/>
              <a:ext cx="731964" cy="511182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74" name="Freeform 863">
              <a:extLst>
                <a:ext uri="{FF2B5EF4-FFF2-40B4-BE49-F238E27FC236}">
                  <a16:creationId xmlns:a16="http://schemas.microsoft.com/office/drawing/2014/main" id="{2BC8B516-12BD-7B7F-1DF4-35156AF6B2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826989" y="4930325"/>
              <a:ext cx="914412" cy="731964"/>
            </a:xfrm>
            <a:custGeom>
              <a:avLst/>
              <a:gdLst>
                <a:gd name="T0" fmla="*/ 0 w 576"/>
                <a:gd name="T1" fmla="*/ 582157285 h 461"/>
                <a:gd name="T2" fmla="*/ 289818763 w 576"/>
                <a:gd name="T3" fmla="*/ 1161793619 h 461"/>
                <a:gd name="T4" fmla="*/ 1451610000 w 576"/>
                <a:gd name="T5" fmla="*/ 582157285 h 461"/>
                <a:gd name="T6" fmla="*/ 289818763 w 576"/>
                <a:gd name="T7" fmla="*/ 0 h 461"/>
                <a:gd name="T8" fmla="*/ 0 w 576"/>
                <a:gd name="T9" fmla="*/ 582157285 h 4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76" h="461">
                  <a:moveTo>
                    <a:pt x="0" y="231"/>
                  </a:moveTo>
                  <a:lnTo>
                    <a:pt x="115" y="461"/>
                  </a:lnTo>
                  <a:lnTo>
                    <a:pt x="576" y="231"/>
                  </a:lnTo>
                  <a:lnTo>
                    <a:pt x="115" y="0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5" name="Text Box 42">
              <a:extLst>
                <a:ext uri="{FF2B5EF4-FFF2-40B4-BE49-F238E27FC236}">
                  <a16:creationId xmlns:a16="http://schemas.microsoft.com/office/drawing/2014/main" id="{9322B0D9-9823-755C-1593-2EA8DAC307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6040438" y="5121275"/>
              <a:ext cx="503237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1/N</a:t>
              </a:r>
            </a:p>
          </p:txBody>
        </p:sp>
        <p:sp>
          <p:nvSpPr>
            <p:cNvPr id="26" name="Text Box 42">
              <a:extLst>
                <a:ext uri="{FF2B5EF4-FFF2-40B4-BE49-F238E27FC236}">
                  <a16:creationId xmlns:a16="http://schemas.microsoft.com/office/drawing/2014/main" id="{EE8BD7B9-A198-89E8-06B7-1A70712BF4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1025" y="1727200"/>
              <a:ext cx="593725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PFD</a:t>
              </a:r>
            </a:p>
          </p:txBody>
        </p:sp>
        <p:sp>
          <p:nvSpPr>
            <p:cNvPr id="27" name="Text Box 42">
              <a:extLst>
                <a:ext uri="{FF2B5EF4-FFF2-40B4-BE49-F238E27FC236}">
                  <a16:creationId xmlns:a16="http://schemas.microsoft.com/office/drawing/2014/main" id="{97AC6FBE-19CB-8A7F-485C-8B22C35DC6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4363" y="1481138"/>
              <a:ext cx="889000" cy="5842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Charge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 pump</a:t>
              </a:r>
            </a:p>
          </p:txBody>
        </p:sp>
        <p:sp>
          <p:nvSpPr>
            <p:cNvPr id="2078" name="Text Box 42">
              <a:extLst>
                <a:ext uri="{FF2B5EF4-FFF2-40B4-BE49-F238E27FC236}">
                  <a16:creationId xmlns:a16="http://schemas.microsoft.com/office/drawing/2014/main" id="{095282BE-7303-D867-606B-E3D3C05618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4919663"/>
              <a:ext cx="579437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φdiv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2079" name="グループ化 28">
              <a:extLst>
                <a:ext uri="{FF2B5EF4-FFF2-40B4-BE49-F238E27FC236}">
                  <a16:creationId xmlns:a16="http://schemas.microsoft.com/office/drawing/2014/main" id="{3FD83F4C-7D4A-588E-BB19-B361C97BE7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20" name="Group 864">
                <a:extLst>
                  <a:ext uri="{FF2B5EF4-FFF2-40B4-BE49-F238E27FC236}">
                    <a16:creationId xmlns:a16="http://schemas.microsoft.com/office/drawing/2014/main" id="{D598AC6B-3D9D-B0BB-2BB1-F8E985D7A4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22" name="Group 60">
                  <a:extLst>
                    <a:ext uri="{FF2B5EF4-FFF2-40B4-BE49-F238E27FC236}">
                      <a16:creationId xmlns:a16="http://schemas.microsoft.com/office/drawing/2014/main" id="{4847312B-726A-3948-300A-33649BCC384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24" name="Line 55">
                    <a:extLst>
                      <a:ext uri="{FF2B5EF4-FFF2-40B4-BE49-F238E27FC236}">
                        <a16:creationId xmlns:a16="http://schemas.microsoft.com/office/drawing/2014/main" id="{B22FED08-BCFB-D1AA-311A-2D9C659448E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25" name="AutoShape 56">
                    <a:extLst>
                      <a:ext uri="{FF2B5EF4-FFF2-40B4-BE49-F238E27FC236}">
                        <a16:creationId xmlns:a16="http://schemas.microsoft.com/office/drawing/2014/main" id="{81F14F2C-AA53-9029-90DA-14EE109A7B9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3" name="Freeform 863">
                  <a:extLst>
                    <a:ext uri="{FF2B5EF4-FFF2-40B4-BE49-F238E27FC236}">
                      <a16:creationId xmlns:a16="http://schemas.microsoft.com/office/drawing/2014/main" id="{F1AC7044-6D34-C6FD-61BF-3D3F7C1922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1" name="Text Box 42">
                <a:extLst>
                  <a:ext uri="{FF2B5EF4-FFF2-40B4-BE49-F238E27FC236}">
                    <a16:creationId xmlns:a16="http://schemas.microsoft.com/office/drawing/2014/main" id="{AB24A54C-B7D1-F82C-E57A-37A6C5F2C3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17218" y="3540598"/>
                <a:ext cx="414333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R1</a:t>
                </a:r>
              </a:p>
            </p:txBody>
          </p:sp>
        </p:grpSp>
        <p:cxnSp>
          <p:nvCxnSpPr>
            <p:cNvPr id="2080" name="直線コネクタ 29">
              <a:extLst>
                <a:ext uri="{FF2B5EF4-FFF2-40B4-BE49-F238E27FC236}">
                  <a16:creationId xmlns:a16="http://schemas.microsoft.com/office/drawing/2014/main" id="{8F05E8E9-A8CA-2F75-FB95-6227636564C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3625336" y="2641398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1" name="Text Box 42">
              <a:extLst>
                <a:ext uri="{FF2B5EF4-FFF2-40B4-BE49-F238E27FC236}">
                  <a16:creationId xmlns:a16="http://schemas.microsoft.com/office/drawing/2014/main" id="{42FE1077-E908-2C6E-0D43-4194FDDC3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5867400"/>
              <a:ext cx="1909762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Divider</a:t>
              </a:r>
            </a:p>
          </p:txBody>
        </p:sp>
        <p:sp>
          <p:nvSpPr>
            <p:cNvPr id="32" name="Text Box 42">
              <a:extLst>
                <a:ext uri="{FF2B5EF4-FFF2-40B4-BE49-F238E27FC236}">
                  <a16:creationId xmlns:a16="http://schemas.microsoft.com/office/drawing/2014/main" id="{DC3AF292-FE88-6F03-7F2D-E3C7BFC9D0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9338" y="2132013"/>
              <a:ext cx="1096962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-Ibias to Ibias</a:t>
              </a:r>
            </a:p>
          </p:txBody>
        </p:sp>
        <p:sp>
          <p:nvSpPr>
            <p:cNvPr id="33" name="Text Box 42">
              <a:extLst>
                <a:ext uri="{FF2B5EF4-FFF2-40B4-BE49-F238E27FC236}">
                  <a16:creationId xmlns:a16="http://schemas.microsoft.com/office/drawing/2014/main" id="{92D6ACD3-3E2A-7F51-EF2A-C3EDF595F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37103" y="2132013"/>
              <a:ext cx="695325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Voltage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Vin</a:t>
              </a:r>
            </a:p>
          </p:txBody>
        </p:sp>
        <p:sp>
          <p:nvSpPr>
            <p:cNvPr id="34" name="Text Box 42">
              <a:extLst>
                <a:ext uri="{FF2B5EF4-FFF2-40B4-BE49-F238E27FC236}">
                  <a16:creationId xmlns:a16="http://schemas.microsoft.com/office/drawing/2014/main" id="{0E8F96F1-86A5-BCE0-8E1A-73DC6AEE59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963" y="229076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35" name="Text Box 42">
              <a:extLst>
                <a:ext uri="{FF2B5EF4-FFF2-40B4-BE49-F238E27FC236}">
                  <a16:creationId xmlns:a16="http://schemas.microsoft.com/office/drawing/2014/main" id="{E2A3A6DC-6B87-32A3-5189-5095CBCFB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9400" y="1865313"/>
              <a:ext cx="593725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REF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86" name="Straight Connector 19">
              <a:extLst>
                <a:ext uri="{FF2B5EF4-FFF2-40B4-BE49-F238E27FC236}">
                  <a16:creationId xmlns:a16="http://schemas.microsoft.com/office/drawing/2014/main" id="{E86027D7-8018-5D20-C427-9726E5493AB6}"/>
                </a:ext>
              </a:extLst>
            </p:cNvPr>
            <p:cNvCxnSpPr>
              <a:cxnSpLocks noChangeShapeType="1"/>
              <a:stCxn id="2136" idx="1"/>
              <a:endCxn id="2124" idx="0"/>
            </p:cNvCxnSpPr>
            <p:nvPr/>
          </p:nvCxnSpPr>
          <p:spPr bwMode="auto">
            <a:xfrm flipV="1">
              <a:off x="5333004" y="2641683"/>
              <a:ext cx="348215" cy="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87" name="Rectangle 485">
              <a:extLst>
                <a:ext uri="{FF2B5EF4-FFF2-40B4-BE49-F238E27FC236}">
                  <a16:creationId xmlns:a16="http://schemas.microsoft.com/office/drawing/2014/main" id="{1C64E21D-4F04-95E2-7332-634BF630B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95632" y="3442727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grpSp>
          <p:nvGrpSpPr>
            <p:cNvPr id="2088" name="グループ化 37">
              <a:extLst>
                <a:ext uri="{FF2B5EF4-FFF2-40B4-BE49-F238E27FC236}">
                  <a16:creationId xmlns:a16="http://schemas.microsoft.com/office/drawing/2014/main" id="{A7C4DA6E-8512-A126-E6C6-78AE671C0F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3425778"/>
              <a:ext cx="914412" cy="733551"/>
              <a:chOff x="3940565" y="3304121"/>
              <a:chExt cx="914400" cy="733425"/>
            </a:xfrm>
          </p:grpSpPr>
          <p:grpSp>
            <p:nvGrpSpPr>
              <p:cNvPr id="2114" name="Group 864">
                <a:extLst>
                  <a:ext uri="{FF2B5EF4-FFF2-40B4-BE49-F238E27FC236}">
                    <a16:creationId xmlns:a16="http://schemas.microsoft.com/office/drawing/2014/main" id="{22F4ED51-4CEE-5847-BF22-755C697FA1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16" name="Group 60">
                  <a:extLst>
                    <a:ext uri="{FF2B5EF4-FFF2-40B4-BE49-F238E27FC236}">
                      <a16:creationId xmlns:a16="http://schemas.microsoft.com/office/drawing/2014/main" id="{DCBED046-C4C6-E651-71C8-CF8490E3534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18" name="Line 55">
                    <a:extLst>
                      <a:ext uri="{FF2B5EF4-FFF2-40B4-BE49-F238E27FC236}">
                        <a16:creationId xmlns:a16="http://schemas.microsoft.com/office/drawing/2014/main" id="{3D4005F3-A692-A1FA-ED78-E5F68A9217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19" name="AutoShape 56">
                    <a:extLst>
                      <a:ext uri="{FF2B5EF4-FFF2-40B4-BE49-F238E27FC236}">
                        <a16:creationId xmlns:a16="http://schemas.microsoft.com/office/drawing/2014/main" id="{A2FF0125-7B08-69F3-8244-2BD030A0087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17" name="Freeform 863">
                  <a:extLst>
                    <a:ext uri="{FF2B5EF4-FFF2-40B4-BE49-F238E27FC236}">
                      <a16:creationId xmlns:a16="http://schemas.microsoft.com/office/drawing/2014/main" id="{43790C2B-A416-2FBD-4A95-F52149B759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65" name="Text Box 42">
                <a:extLst>
                  <a:ext uri="{FF2B5EF4-FFF2-40B4-BE49-F238E27FC236}">
                    <a16:creationId xmlns:a16="http://schemas.microsoft.com/office/drawing/2014/main" id="{D82BB238-2AFA-A1CB-EC39-AB820D92D2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056" y="3404164"/>
                <a:ext cx="414332" cy="52219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C1</a:t>
                </a:r>
              </a:p>
            </p:txBody>
          </p:sp>
        </p:grpSp>
        <p:cxnSp>
          <p:nvCxnSpPr>
            <p:cNvPr id="2089" name="直線コネクタ 38">
              <a:extLst>
                <a:ext uri="{FF2B5EF4-FFF2-40B4-BE49-F238E27FC236}">
                  <a16:creationId xmlns:a16="http://schemas.microsoft.com/office/drawing/2014/main" id="{2ABC1D6A-69D0-F7C9-A3DE-502EFFE09E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5953602" y="3793191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07" name="Group 347">
              <a:extLst>
                <a:ext uri="{FF2B5EF4-FFF2-40B4-BE49-F238E27FC236}">
                  <a16:creationId xmlns:a16="http://schemas.microsoft.com/office/drawing/2014/main" id="{FDFBC058-7D32-5602-E12E-81926A681EB4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6971057" y="2332056"/>
              <a:ext cx="1908200" cy="766895"/>
              <a:chOff x="526" y="3600"/>
              <a:chExt cx="1202" cy="483"/>
            </a:xfrm>
          </p:grpSpPr>
          <p:sp>
            <p:nvSpPr>
              <p:cNvPr id="2109" name="Oval 339">
                <a:extLst>
                  <a:ext uri="{FF2B5EF4-FFF2-40B4-BE49-F238E27FC236}">
                    <a16:creationId xmlns:a16="http://schemas.microsoft.com/office/drawing/2014/main" id="{9FC5059F-67A5-32FE-8C4F-7C015D0E93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110" name="Line 340">
                <a:extLst>
                  <a:ext uri="{FF2B5EF4-FFF2-40B4-BE49-F238E27FC236}">
                    <a16:creationId xmlns:a16="http://schemas.microsoft.com/office/drawing/2014/main" id="{4D731D38-743D-58DE-3A38-6727EF22E6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671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1" name="Line 341">
                <a:extLst>
                  <a:ext uri="{FF2B5EF4-FFF2-40B4-BE49-F238E27FC236}">
                    <a16:creationId xmlns:a16="http://schemas.microsoft.com/office/drawing/2014/main" id="{B48E7FD4-A4FF-36BA-F904-24C588D353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897" y="3517"/>
                <a:ext cx="0" cy="7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2" name="Line 345">
                <a:extLst>
                  <a:ext uri="{FF2B5EF4-FFF2-40B4-BE49-F238E27FC236}">
                    <a16:creationId xmlns:a16="http://schemas.microsoft.com/office/drawing/2014/main" id="{0C4346CB-AFFE-A19E-FBCB-85266EC38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0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3" name="Text Box 346">
                <a:extLst>
                  <a:ext uri="{FF2B5EF4-FFF2-40B4-BE49-F238E27FC236}">
                    <a16:creationId xmlns:a16="http://schemas.microsoft.com/office/drawing/2014/main" id="{3B52BEE9-C212-35A0-4A78-BCCA5B2B59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cxnSp>
          <p:nvCxnSpPr>
            <p:cNvPr id="2091" name="Straight Connector 19">
              <a:extLst>
                <a:ext uri="{FF2B5EF4-FFF2-40B4-BE49-F238E27FC236}">
                  <a16:creationId xmlns:a16="http://schemas.microsoft.com/office/drawing/2014/main" id="{55F4B4BD-7F11-16BD-2838-BB13E9A184D3}"/>
                </a:ext>
              </a:extLst>
            </p:cNvPr>
            <p:cNvCxnSpPr>
              <a:cxnSpLocks noChangeShapeType="1"/>
              <a:stCxn id="2124" idx="1"/>
              <a:endCxn id="2110" idx="0"/>
            </p:cNvCxnSpPr>
            <p:nvPr/>
          </p:nvCxnSpPr>
          <p:spPr bwMode="auto">
            <a:xfrm>
              <a:off x="6595632" y="2641684"/>
              <a:ext cx="374633" cy="78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92" name="コネクタ: カギ線 41">
              <a:extLst>
                <a:ext uri="{FF2B5EF4-FFF2-40B4-BE49-F238E27FC236}">
                  <a16:creationId xmlns:a16="http://schemas.microsoft.com/office/drawing/2014/main" id="{2DE95C86-4381-3EBC-80F4-CFBA86C278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5072364" y="3190832"/>
              <a:ext cx="1156414" cy="61297"/>
            </a:xfrm>
            <a:prstGeom prst="bentConnector3">
              <a:avLst>
                <a:gd name="adj1" fmla="val 9943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3" name="Oval 813">
              <a:extLst>
                <a:ext uri="{FF2B5EF4-FFF2-40B4-BE49-F238E27FC236}">
                  <a16:creationId xmlns:a16="http://schemas.microsoft.com/office/drawing/2014/main" id="{C31C7174-255B-9822-C81F-925770F544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7386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094" name="コネクタ: カギ線 43">
              <a:extLst>
                <a:ext uri="{FF2B5EF4-FFF2-40B4-BE49-F238E27FC236}">
                  <a16:creationId xmlns:a16="http://schemas.microsoft.com/office/drawing/2014/main" id="{1212C3C3-BB31-27C2-CEBB-2654F65332F4}"/>
                </a:ext>
              </a:extLst>
            </p:cNvPr>
            <p:cNvCxnSpPr>
              <a:cxnSpLocks noChangeShapeType="1"/>
              <a:stCxn id="2087" idx="3"/>
              <a:endCxn id="2112" idx="0"/>
            </p:cNvCxnSpPr>
            <p:nvPr/>
          </p:nvCxnSpPr>
          <p:spPr bwMode="auto">
            <a:xfrm flipV="1">
              <a:off x="7251562" y="3098951"/>
              <a:ext cx="176701" cy="709595"/>
            </a:xfrm>
            <a:prstGeom prst="bentConnector4">
              <a:avLst>
                <a:gd name="adj1" fmla="val 50000"/>
                <a:gd name="adj2" fmla="val 5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373646D-F928-41D8-4C17-3352898B9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21613" y="2285460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sp>
          <p:nvSpPr>
            <p:cNvPr id="2097" name="Freeform 229">
              <a:extLst>
                <a:ext uri="{FF2B5EF4-FFF2-40B4-BE49-F238E27FC236}">
                  <a16:creationId xmlns:a16="http://schemas.microsoft.com/office/drawing/2014/main" id="{4A47AA80-D5DA-A595-10FF-10508DB805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24087" y="2493963"/>
              <a:ext cx="593725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48" name="Text Box 42">
              <a:extLst>
                <a:ext uri="{FF2B5EF4-FFF2-40B4-BE49-F238E27FC236}">
                  <a16:creationId xmlns:a16="http://schemas.microsoft.com/office/drawing/2014/main" id="{AFAA21A1-C870-C7A7-0E56-6F0B0D3BD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54237" y="1865313"/>
              <a:ext cx="617537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OUT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99" name="Straight Connector 19">
              <a:extLst>
                <a:ext uri="{FF2B5EF4-FFF2-40B4-BE49-F238E27FC236}">
                  <a16:creationId xmlns:a16="http://schemas.microsoft.com/office/drawing/2014/main" id="{2599558C-E056-7514-A6CB-8374855A1F36}"/>
                </a:ext>
              </a:extLst>
            </p:cNvPr>
            <p:cNvCxnSpPr>
              <a:cxnSpLocks noChangeShapeType="1"/>
              <a:stCxn id="2095" idx="3"/>
            </p:cNvCxnSpPr>
            <p:nvPr/>
          </p:nvCxnSpPr>
          <p:spPr bwMode="auto">
            <a:xfrm>
              <a:off x="11077543" y="2651279"/>
              <a:ext cx="346619" cy="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01" name="コネクタ: カギ線 50">
              <a:extLst>
                <a:ext uri="{FF2B5EF4-FFF2-40B4-BE49-F238E27FC236}">
                  <a16:creationId xmlns:a16="http://schemas.microsoft.com/office/drawing/2014/main" id="{ECFF6B71-4A89-3F09-5E14-AC2C140B240A}"/>
                </a:ext>
              </a:extLst>
            </p:cNvPr>
            <p:cNvCxnSpPr>
              <a:cxnSpLocks noChangeShapeType="1"/>
              <a:stCxn id="2073" idx="0"/>
              <a:endCxn id="2063" idx="0"/>
            </p:cNvCxnSpPr>
            <p:nvPr/>
          </p:nvCxnSpPr>
          <p:spPr bwMode="auto">
            <a:xfrm rot="10800000">
              <a:off x="3020646" y="2916358"/>
              <a:ext cx="2989703" cy="2379156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2" name="Oval 813">
              <a:extLst>
                <a:ext uri="{FF2B5EF4-FFF2-40B4-BE49-F238E27FC236}">
                  <a16:creationId xmlns:a16="http://schemas.microsoft.com/office/drawing/2014/main" id="{D65DA188-D4F3-004B-81AC-450D87F50E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61162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103" name="コネクタ: カギ線 52">
              <a:extLst>
                <a:ext uri="{FF2B5EF4-FFF2-40B4-BE49-F238E27FC236}">
                  <a16:creationId xmlns:a16="http://schemas.microsoft.com/office/drawing/2014/main" id="{BBC719D7-A219-7D15-6418-6ED584D18E60}"/>
                </a:ext>
              </a:extLst>
            </p:cNvPr>
            <p:cNvCxnSpPr>
              <a:cxnSpLocks noChangeShapeType="1"/>
              <a:stCxn id="2102" idx="4"/>
              <a:endCxn id="25" idx="1"/>
            </p:cNvCxnSpPr>
            <p:nvPr/>
          </p:nvCxnSpPr>
          <p:spPr bwMode="auto">
            <a:xfrm rot="5400000">
              <a:off x="7624522" y="1607665"/>
              <a:ext cx="2601833" cy="4763525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4" name="Text Box 42">
              <a:extLst>
                <a:ext uri="{FF2B5EF4-FFF2-40B4-BE49-F238E27FC236}">
                  <a16:creationId xmlns:a16="http://schemas.microsoft.com/office/drawing/2014/main" id="{1D596FD9-BAE3-1926-629F-110F6ED83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8938" y="4919663"/>
              <a:ext cx="6032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55" name="Text Box 42">
              <a:extLst>
                <a:ext uri="{FF2B5EF4-FFF2-40B4-BE49-F238E27FC236}">
                  <a16:creationId xmlns:a16="http://schemas.microsoft.com/office/drawing/2014/main" id="{9F2A3D7D-C880-596D-CE50-FEA9D90DC0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13363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56" name="Text Box 42">
              <a:extLst>
                <a:ext uri="{FF2B5EF4-FFF2-40B4-BE49-F238E27FC236}">
                  <a16:creationId xmlns:a16="http://schemas.microsoft.com/office/drawing/2014/main" id="{449C37DB-D00F-54C5-0174-11487EF0D2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1475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2052" name="テキスト ボックス 96">
              <a:extLst>
                <a:ext uri="{FF2B5EF4-FFF2-40B4-BE49-F238E27FC236}">
                  <a16:creationId xmlns:a16="http://schemas.microsoft.com/office/drawing/2014/main" id="{75B00967-D72D-67E9-36CC-6F8CB1A7F1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94038" y="5673725"/>
              <a:ext cx="2540000" cy="101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Transfer function: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Ibias                          Kvco  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G(s) = ------- * (R1+1/C1s) * -------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  </a:t>
              </a:r>
              <a:r>
                <a:rPr lang="ja-JP" altLang="en-US" sz="1000">
                  <a:ea typeface="ＭＳ Ｐゴシック" panose="020B0600070205080204" pitchFamily="50" charset="-128"/>
                </a:rPr>
                <a:t> </a:t>
              </a:r>
              <a:r>
                <a:rPr lang="en-US" altLang="ja-JP" sz="1000">
                  <a:ea typeface="ＭＳ Ｐゴシック" panose="020B0600070205080204" pitchFamily="50" charset="-128"/>
                </a:rPr>
                <a:t>π                               s   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H(s) = 1 / N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endParaRPr lang="en-US" altLang="ja-JP" sz="1000">
                <a:ea typeface="ＭＳ Ｐゴシック" panose="020B0600070205080204" pitchFamily="50" charset="-128"/>
              </a:endParaRPr>
            </a:p>
          </p:txBody>
        </p:sp>
        <p:sp>
          <p:nvSpPr>
            <p:cNvPr id="2053" name="テキスト ボックス 97">
              <a:extLst>
                <a:ext uri="{FF2B5EF4-FFF2-40B4-BE49-F238E27FC236}">
                  <a16:creationId xmlns:a16="http://schemas.microsoft.com/office/drawing/2014/main" id="{F68AD9E1-B739-6CD5-CC71-DE9ED93C2A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8375" y="5424489"/>
              <a:ext cx="2541588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Closed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        G(s)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W(s) = ----------------------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1 + G(s) H(s)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Open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G(s) H(s)</a:t>
              </a:r>
            </a:p>
          </p:txBody>
        </p:sp>
        <p:grpSp>
          <p:nvGrpSpPr>
            <p:cNvPr id="13" name="Group 358">
              <a:extLst>
                <a:ext uri="{FF2B5EF4-FFF2-40B4-BE49-F238E27FC236}">
                  <a16:creationId xmlns:a16="http://schemas.microsoft.com/office/drawing/2014/main" id="{6C100654-9E8A-F35B-451F-4BD6D89B3B13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9388137" y="2331344"/>
              <a:ext cx="1033476" cy="766895"/>
              <a:chOff x="749" y="3427"/>
              <a:chExt cx="651" cy="483"/>
            </a:xfrm>
          </p:grpSpPr>
          <p:grpSp>
            <p:nvGrpSpPr>
              <p:cNvPr id="14" name="Group 347">
                <a:extLst>
                  <a:ext uri="{FF2B5EF4-FFF2-40B4-BE49-F238E27FC236}">
                    <a16:creationId xmlns:a16="http://schemas.microsoft.com/office/drawing/2014/main" id="{7B3F075F-0EDE-E39E-AF87-54D7061457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9" y="3427"/>
                <a:ext cx="651" cy="483"/>
                <a:chOff x="1152" y="3600"/>
                <a:chExt cx="651" cy="483"/>
              </a:xfrm>
            </p:grpSpPr>
            <p:sp>
              <p:nvSpPr>
                <p:cNvPr id="16" name="Oval 339">
                  <a:extLst>
                    <a:ext uri="{FF2B5EF4-FFF2-40B4-BE49-F238E27FC236}">
                      <a16:creationId xmlns:a16="http://schemas.microsoft.com/office/drawing/2014/main" id="{57180DA4-76E2-5B60-8FF2-9735DB668E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17" name="Line 340">
                  <a:extLst>
                    <a:ext uri="{FF2B5EF4-FFF2-40B4-BE49-F238E27FC236}">
                      <a16:creationId xmlns:a16="http://schemas.microsoft.com/office/drawing/2014/main" id="{2AB5895E-675A-9E25-2458-73DF255539A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707" y="3791"/>
                  <a:ext cx="3" cy="18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8" name="Line 341">
                  <a:extLst>
                    <a:ext uri="{FF2B5EF4-FFF2-40B4-BE49-F238E27FC236}">
                      <a16:creationId xmlns:a16="http://schemas.microsoft.com/office/drawing/2014/main" id="{AB9E3616-7E0B-2C37-DB9F-1DEF18D003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210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9" name="Line 345">
                  <a:extLst>
                    <a:ext uri="{FF2B5EF4-FFF2-40B4-BE49-F238E27FC236}">
                      <a16:creationId xmlns:a16="http://schemas.microsoft.com/office/drawing/2014/main" id="{8E32BB5F-7694-7011-E1D4-BDC3DBA74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" name="Text Box 346">
                  <a:extLst>
                    <a:ext uri="{FF2B5EF4-FFF2-40B4-BE49-F238E27FC236}">
                      <a16:creationId xmlns:a16="http://schemas.microsoft.com/office/drawing/2014/main" id="{820823EE-D360-9B5D-F193-F1A52207EA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sp>
            <p:nvSpPr>
              <p:cNvPr id="15" name="Freeform 357">
                <a:extLst>
                  <a:ext uri="{FF2B5EF4-FFF2-40B4-BE49-F238E27FC236}">
                    <a16:creationId xmlns:a16="http://schemas.microsoft.com/office/drawing/2014/main" id="{08F84CFF-0C17-275B-81BB-6B7722197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9" y="3427"/>
                <a:ext cx="576" cy="288"/>
              </a:xfrm>
              <a:custGeom>
                <a:avLst/>
                <a:gdLst>
                  <a:gd name="T0" fmla="*/ 0 w 576"/>
                  <a:gd name="T1" fmla="*/ 288 h 288"/>
                  <a:gd name="T2" fmla="*/ 288 w 576"/>
                  <a:gd name="T3" fmla="*/ 0 h 288"/>
                  <a:gd name="T4" fmla="*/ 576 w 576"/>
                  <a:gd name="T5" fmla="*/ 288 h 288"/>
                  <a:gd name="T6" fmla="*/ 0 w 576"/>
                  <a:gd name="T7" fmla="*/ 288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42" name="Freeform 229">
              <a:extLst>
                <a:ext uri="{FF2B5EF4-FFF2-40B4-BE49-F238E27FC236}">
                  <a16:creationId xmlns:a16="http://schemas.microsoft.com/office/drawing/2014/main" id="{2C2E46B2-CA27-EDCD-87A4-257B7CC08B5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7506" y="3947577"/>
              <a:ext cx="1799790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n-US" altLang="ja-JP" sz="1200" dirty="0"/>
                <a:t>CEN_FREQ_CUR</a:t>
              </a:r>
              <a:endParaRPr lang="ja-JP" altLang="en-US" sz="1200" dirty="0"/>
            </a:p>
          </p:txBody>
        </p:sp>
        <p:sp>
          <p:nvSpPr>
            <p:cNvPr id="43" name="Text Box 42">
              <a:extLst>
                <a:ext uri="{FF2B5EF4-FFF2-40B4-BE49-F238E27FC236}">
                  <a16:creationId xmlns:a16="http://schemas.microsoft.com/office/drawing/2014/main" id="{16152BB4-77AE-C69D-0237-92C57EC9A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00620" y="4249250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Center Frequency</a:t>
              </a:r>
            </a:p>
          </p:txBody>
        </p: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AC8BB5DE-C13C-CAC1-E720-96082730F9DE}"/>
                </a:ext>
              </a:extLst>
            </p:cNvPr>
            <p:cNvCxnSpPr>
              <a:cxnSpLocks noChangeShapeType="1"/>
              <a:endCxn id="21" idx="0"/>
            </p:cNvCxnSpPr>
            <p:nvPr/>
          </p:nvCxnSpPr>
          <p:spPr bwMode="auto">
            <a:xfrm rot="5400000" flipH="1" flipV="1">
              <a:off x="9272603" y="3410958"/>
              <a:ext cx="1133131" cy="256827"/>
            </a:xfrm>
            <a:prstGeom prst="bentConnector3">
              <a:avLst>
                <a:gd name="adj1" fmla="val -537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 Box 42">
              <a:extLst>
                <a:ext uri="{FF2B5EF4-FFF2-40B4-BE49-F238E27FC236}">
                  <a16:creationId xmlns:a16="http://schemas.microsoft.com/office/drawing/2014/main" id="{9618E49F-DFBA-7A01-0BFC-3704F3884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4407" y="3867590"/>
              <a:ext cx="696024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</p:txBody>
        </p:sp>
        <p:sp>
          <p:nvSpPr>
            <p:cNvPr id="36" name="Freeform 229">
              <a:extLst>
                <a:ext uri="{FF2B5EF4-FFF2-40B4-BE49-F238E27FC236}">
                  <a16:creationId xmlns:a16="http://schemas.microsoft.com/office/drawing/2014/main" id="{7BABE83E-DDF9-24B2-0E4E-E77F40C6EC5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5110" y="3225948"/>
              <a:ext cx="1449701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n-US" altLang="ja-JP" sz="1200" dirty="0"/>
                <a:t>KVCO_ADJ_CUR</a:t>
              </a:r>
              <a:endParaRPr lang="ja-JP" altLang="en-US" sz="1200" dirty="0"/>
            </a:p>
          </p:txBody>
        </p: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918DD746-2B1A-1E68-EC99-DE62798AD601}"/>
                </a:ext>
              </a:extLst>
            </p:cNvPr>
            <p:cNvCxnSpPr>
              <a:cxnSpLocks noChangeShapeType="1"/>
              <a:endCxn id="2131" idx="5"/>
            </p:cNvCxnSpPr>
            <p:nvPr/>
          </p:nvCxnSpPr>
          <p:spPr bwMode="auto">
            <a:xfrm rot="5400000" flipH="1" flipV="1">
              <a:off x="8799671" y="3041399"/>
              <a:ext cx="549188" cy="124501"/>
            </a:xfrm>
            <a:prstGeom prst="bentConnector3">
              <a:avLst>
                <a:gd name="adj1" fmla="val 926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" name="Text Box 42">
            <a:extLst>
              <a:ext uri="{FF2B5EF4-FFF2-40B4-BE49-F238E27FC236}">
                <a16:creationId xmlns:a16="http://schemas.microsoft.com/office/drawing/2014/main" id="{F5941204-089A-A56C-E020-C4841B2637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965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sp>
        <p:nvSpPr>
          <p:cNvPr id="3" name="Freeform 229">
            <a:extLst>
              <a:ext uri="{FF2B5EF4-FFF2-40B4-BE49-F238E27FC236}">
                <a16:creationId xmlns:a16="http://schemas.microsoft.com/office/drawing/2014/main" id="{B62C2CB5-497F-B1FA-E618-D754E8F6821B}"/>
              </a:ext>
            </a:extLst>
          </p:cNvPr>
          <p:cNvSpPr>
            <a:spLocks/>
          </p:cNvSpPr>
          <p:nvPr/>
        </p:nvSpPr>
        <p:spPr bwMode="auto">
          <a:xfrm>
            <a:off x="10665632" y="1443188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0" name="コネクタ: カギ線 52">
            <a:extLst>
              <a:ext uri="{FF2B5EF4-FFF2-40B4-BE49-F238E27FC236}">
                <a16:creationId xmlns:a16="http://schemas.microsoft.com/office/drawing/2014/main" id="{67E4A9B9-5959-8762-CF18-6FEDB09399F8}"/>
              </a:ext>
            </a:extLst>
          </p:cNvPr>
          <p:cNvCxnSpPr>
            <a:cxnSpLocks noChangeShapeType="1"/>
            <a:stCxn id="2109" idx="2"/>
          </p:cNvCxnSpPr>
          <p:nvPr/>
        </p:nvCxnSpPr>
        <p:spPr bwMode="auto">
          <a:xfrm flipV="1">
            <a:off x="7015298" y="1596646"/>
            <a:ext cx="3650336" cy="1045026"/>
          </a:xfrm>
          <a:prstGeom prst="bentConnector3">
            <a:avLst>
              <a:gd name="adj1" fmla="val 231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eform 229">
            <a:extLst>
              <a:ext uri="{FF2B5EF4-FFF2-40B4-BE49-F238E27FC236}">
                <a16:creationId xmlns:a16="http://schemas.microsoft.com/office/drawing/2014/main" id="{296DC4E9-62A9-01A9-4DBD-025F9ACB4590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9AE36EE0-A044-0A1C-99DC-5761940BFEB4}"/>
              </a:ext>
            </a:extLst>
          </p:cNvPr>
          <p:cNvCxnSpPr>
            <a:cxnSpLocks noChangeShapeType="1"/>
            <a:stCxn id="2093" idx="0"/>
          </p:cNvCxnSpPr>
          <p:nvPr/>
        </p:nvCxnSpPr>
        <p:spPr bwMode="auto">
          <a:xfrm rot="16200000" flipV="1">
            <a:off x="3785648" y="1446249"/>
            <a:ext cx="1304194" cy="996147"/>
          </a:xfrm>
          <a:prstGeom prst="bentConnector3">
            <a:avLst>
              <a:gd name="adj1" fmla="val 998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Text Box 42">
            <a:extLst>
              <a:ext uri="{FF2B5EF4-FFF2-40B4-BE49-F238E27FC236}">
                <a16:creationId xmlns:a16="http://schemas.microsoft.com/office/drawing/2014/main" id="{86F3ADA7-A74A-26C3-ECD0-6399FEE9B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934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E637-AA18-CA6B-3465-E5BE89D2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B236FEE0-2C33-8D93-FF98-46FE1F78A2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– FM demodulator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7E83A225-B786-3BC6-F9AB-D192E3D38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51B7C68B-2182-B1E3-8385-CE4A2B5E7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8864445E-EE23-E02A-376C-5F4702BF4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B7F10A05-AD89-3CCE-725E-1088DD867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5F51F8C7-C85B-4FC5-33A2-E673A44A7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969AA86F-2715-2823-6E05-7B35E0630C84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8358DF04-7DDF-0611-2A2C-6D1D62F80349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80EA1560-3DA4-C0CD-63BA-56E9CC336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078A1D53-3774-F1F0-D8DB-6E4B192574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A7F82DE5-451A-B29C-6F8D-37AEBB02994F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7109F9E1-5A8D-A3D0-9A82-5ED98D00E699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ED5C56D9-A2DE-0396-E6A4-2012E118E5F7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B096143D-ED2E-8C19-5566-974F27F36605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0E01A612-91FF-88FC-4F0B-E05F60757E5A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2A89EEDB-B266-EB49-DC49-B09A96079C2C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212AF921-A8AD-9142-EE81-08FB99549C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4E381D5A-5A52-C83D-487E-F37C8FEDAC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652CF3C-B0EF-581E-4452-195C94926B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424A1083-03D5-5590-4361-2E3305004D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DC9CA4D6-786A-45CD-04F8-BC4A1233D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7CC006DA-8B9A-7773-C6B2-162356C3AE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F92D4C11-48B1-5579-767F-93BA50293B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8AE8B882-A2E7-8B9B-8FF6-B1B2E4B3F162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7E09E743-E57E-6701-2B8E-BEFCD5AA8D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6D706C6A-60C2-0B7A-0FF3-D58773AC9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972378CF-56DE-D7AA-F5D4-86BE6BE12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E2E28778-363B-2553-4FE8-8AA12907E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7F52EED9-F50B-B57B-4D0B-807E3217E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12315BC0-7EC3-8958-D0B3-963FAC324E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2E261675-6C61-27DD-A759-C264B773F602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6CEA5ED2-0B41-48BF-FE95-6B7EEAF013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CA221370-8ED4-C8E7-DD60-19767D4C8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837B8C50-DD01-63F4-7CB4-C77593B701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81DD66F7-127C-CB9B-7770-1A06EFC74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1E1A0787-A9F1-E5C1-AF12-4DCFA66FCF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C463E7A8-6268-43EA-A83D-CC9A41189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641B2C6-BEC3-DAC3-9741-C044052D50A9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122E5B42-E231-9A82-190E-486DB4E7FE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A5718A8-7994-8629-6BDC-40B0CB5E9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C44610D6-B8C9-A85E-CD6A-A2D2FB3623DF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D69F7AE8-4E4C-BCA5-9BD2-155EC2A227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7F8F0230-3EC8-684C-9BF2-447162B969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14787746-5246-BF35-E545-CE6446A9225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B79190C5-BC07-DF28-8605-9F9FF10B2B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DC927B82-4B7E-BA03-66A4-BCA8CC7FF7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F3D5D34E-B7D1-0464-B002-EFDDBAEA2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4ED4BD73-8BE5-3D34-A785-516BF154428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6C76EDAF-15EB-582F-C7B5-82B09626E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FAE491C-BB49-6749-4F47-01AA7D90FE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AF5067AF-43C2-E852-0EF4-8F970E0E46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43497EFC-7CE3-77D1-7283-349CE70ED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66" y="1865313"/>
            <a:ext cx="48122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719670BC-1EB0-F720-5306-03082EF0FDC7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D0D8F930-C35E-1002-5293-1E868ED44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F55C6F3F-6BA8-59CD-6CEC-014AC928C9B8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FA9D086E-3CDC-AB82-EE8D-0FC30D3646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0CE67B3F-51E9-531E-3FB4-CBFC52F332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F56D5A9D-0E7E-21A5-04BB-9DB67420E9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7E4F87CF-6801-EE7C-A1A1-1BAB68DEDD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FA03CA2-7FBE-59F5-EE51-3F5BE478B2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EAEE2F80-21B2-008B-1DF4-071996A1CE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0F569052-CF8C-455C-768E-971B16F5ACD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4E63EE32-9B74-3AF4-2A98-54B861F41A7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82942591-F336-103D-B5C5-E1AA7B8295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C10DF90C-3506-194C-66FC-4D47193F69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7DAFF64B-8140-5B81-243F-710DE7425C9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A36C033E-DBCF-A720-597C-E331D621BF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CD0BD819-678A-59F8-40DD-71CBE35E20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53249B08-1D7F-6983-40D4-90098228097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5C1828DF-8D96-B1DB-05C5-7DF9E9722698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D991664A-4D58-8B88-F19B-CD988926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E50C469D-9F36-F237-CD77-48D34865ADCC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5" name="Rectangle 485">
            <a:extLst>
              <a:ext uri="{FF2B5EF4-FFF2-40B4-BE49-F238E27FC236}">
                <a16:creationId xmlns:a16="http://schemas.microsoft.com/office/drawing/2014/main" id="{45FE7289-5AD9-8469-DABE-7C75B075F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4227" y="2285460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sp>
        <p:nvSpPr>
          <p:cNvPr id="2097" name="Freeform 229">
            <a:extLst>
              <a:ext uri="{FF2B5EF4-FFF2-40B4-BE49-F238E27FC236}">
                <a16:creationId xmlns:a16="http://schemas.microsoft.com/office/drawing/2014/main" id="{E82EF4DF-2E36-3D62-4731-340679DF3601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0F7F9646-F21A-053B-0F80-1E015BBDB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F3D74971-2403-63A8-D85C-26A8004BB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882DC4FA-0D68-5A8D-014B-2CE4ECFC1C01}"/>
              </a:ext>
            </a:extLst>
          </p:cNvPr>
          <p:cNvCxnSpPr>
            <a:cxnSpLocks noChangeShapeType="1"/>
            <a:endCxn id="2063" idx="0"/>
          </p:cNvCxnSpPr>
          <p:nvPr/>
        </p:nvCxnSpPr>
        <p:spPr bwMode="auto">
          <a:xfrm rot="10800000">
            <a:off x="1943259" y="2916356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3" name="コネクタ: カギ線 52">
            <a:extLst>
              <a:ext uri="{FF2B5EF4-FFF2-40B4-BE49-F238E27FC236}">
                <a16:creationId xmlns:a16="http://schemas.microsoft.com/office/drawing/2014/main" id="{E26A7B91-1D93-E1BF-7FA2-D7B2A1E41674}"/>
              </a:ext>
            </a:extLst>
          </p:cNvPr>
          <p:cNvCxnSpPr>
            <a:cxnSpLocks noChangeShapeType="1"/>
            <a:stCxn id="2095" idx="3"/>
          </p:cNvCxnSpPr>
          <p:nvPr/>
        </p:nvCxnSpPr>
        <p:spPr bwMode="auto">
          <a:xfrm flipH="1">
            <a:off x="5466291" y="2651279"/>
            <a:ext cx="4533866" cy="2639065"/>
          </a:xfrm>
          <a:prstGeom prst="bentConnector3">
            <a:avLst>
              <a:gd name="adj1" fmla="val -5042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9B2F7523-C0D1-540E-B8D1-A25E6A3E7F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1CB46074-B989-68CC-42FB-60C94E49AE7B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D4C8E2E9-D24C-AADA-0F45-23E73B665B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9970DA2A-8F15-E5C5-F202-907354C6C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FCF2F03B-4D1C-7775-D56C-93D5EA6A7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3648CDBE-712B-E750-D2EC-8361C98CC4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CBEF92FD-B958-2DFF-2B95-3D2DE2AFA370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32099B90-8E12-1581-80EB-BC2398124CD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E860C55F-1B91-B90D-E801-7809C27E9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CCCD94D9-2071-6E4C-079F-FCA470746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761B5245-80F2-4D24-241D-F4C092546876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39D13F04-8321-62FE-858C-FC1CBE31F9E8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F87BFD22-5102-8464-0DA7-F99DE05F5926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42449685-1F04-5F38-616D-99589378D23D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0ABE633B-496F-45D0-6E7C-6F1BC5026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76ED553F-5CD2-7CBA-762A-BD86AF59D20C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CC9AAF33-54A2-3452-287D-89F42F6BE6DA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EC1A83F7-B8F3-FE96-3B7B-1A9C17DBC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  <p:extLst>
      <p:ext uri="{BB962C8B-B14F-4D97-AF65-F5344CB8AC3E}">
        <p14:creationId xmlns:p14="http://schemas.microsoft.com/office/powerpoint/2010/main" val="2282260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D935FED-1BA6-6745-C818-3303F87D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98" y="1482048"/>
            <a:ext cx="10677236" cy="484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40F37FD-1B7D-8EE9-6493-A8745907E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07" y="1426586"/>
            <a:ext cx="10157836" cy="462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45D3-9CD9-DA7E-868E-08E84B9F9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AE48628F-5E89-B609-EA68-A96C097475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0038" y="1577149"/>
            <a:ext cx="5719762" cy="4422839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96751A-E278-B477-6AB7-56DD301F66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5AFB360-1AB0-7D41-53E4-318837E1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VCO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D9A16-2665-2A38-CB3F-B2995BFCC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32C649-7DC1-1B13-94C3-63DA037607F5}"/>
              </a:ext>
            </a:extLst>
          </p:cNvPr>
          <p:cNvSpPr txBox="1"/>
          <p:nvPr/>
        </p:nvSpPr>
        <p:spPr>
          <a:xfrm>
            <a:off x="2512291" y="4927708"/>
            <a:ext cx="37314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/>
              <a:t>y =  9.04099539e+15 * x^2-4.55009586e</a:t>
            </a:r>
            <a:br>
              <a:rPr lang="en-US" altLang="ja-JP" sz="1400" dirty="0"/>
            </a:br>
            <a:r>
              <a:rPr lang="en-US" altLang="ja-JP" sz="1400" dirty="0"/>
              <a:t>+11 * x + 2.24254037e+07</a:t>
            </a:r>
            <a:endParaRPr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13050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7CF2A-7FBC-C952-12BC-0F025F24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3E15046-66AA-FC43-584A-5C772E3322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C4BD6D-EA90-E20C-9C47-E0732A371C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0ACD9F9A-3907-BC87-B810-905B823A4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OPAMP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0A4E47-D9D0-332F-A763-40DAAA1CF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184B53-A5A4-7E43-28E0-8A0DAFB97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00" y="1486918"/>
            <a:ext cx="7185317" cy="38867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CAEE455-B8AA-9C44-FA9A-68D4270D7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589" y="1484313"/>
            <a:ext cx="4115374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0540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3749</TotalTime>
  <Words>814</Words>
  <Application>Microsoft Office PowerPoint</Application>
  <PresentationFormat>ワイド画面</PresentationFormat>
  <Paragraphs>299</Paragraphs>
  <Slides>15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May 27</vt:lpstr>
      <vt:lpstr>Agenda</vt:lpstr>
      <vt:lpstr>Project information</vt:lpstr>
      <vt:lpstr>Team background</vt:lpstr>
      <vt:lpstr>Specification</vt:lpstr>
      <vt:lpstr>Block diagram - Clock multiplier mode</vt:lpstr>
      <vt:lpstr>Block diagram – FM demodulator mode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- VCO</vt:lpstr>
      <vt:lpstr>Evaluation - OPAMP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100</cp:revision>
  <dcterms:created xsi:type="dcterms:W3CDTF">2026-04-28T12:50:12Z</dcterms:created>
  <dcterms:modified xsi:type="dcterms:W3CDTF">2026-06-01T01:36:31Z</dcterms:modified>
</cp:coreProperties>
</file>