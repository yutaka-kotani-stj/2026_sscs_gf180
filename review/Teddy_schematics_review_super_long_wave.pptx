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61" r:id="rId2"/>
    <p:sldId id="296" r:id="rId3"/>
    <p:sldId id="297" r:id="rId4"/>
    <p:sldId id="299" r:id="rId5"/>
    <p:sldId id="277" r:id="rId6"/>
    <p:sldId id="275" r:id="rId7"/>
    <p:sldId id="300" r:id="rId8"/>
    <p:sldId id="301" r:id="rId9"/>
    <p:sldId id="302" r:id="rId10"/>
    <p:sldId id="303" r:id="rId11"/>
    <p:sldId id="308" r:id="rId12"/>
    <p:sldId id="304" r:id="rId13"/>
    <p:sldId id="309" r:id="rId14"/>
    <p:sldId id="310" r:id="rId15"/>
    <p:sldId id="305" r:id="rId16"/>
    <p:sldId id="306" r:id="rId17"/>
    <p:sldId id="278" r:id="rId18"/>
    <p:sldId id="283" r:id="rId19"/>
    <p:sldId id="290" r:id="rId20"/>
    <p:sldId id="291" r:id="rId21"/>
    <p:sldId id="280" r:id="rId22"/>
    <p:sldId id="293" r:id="rId23"/>
    <p:sldId id="292" r:id="rId24"/>
    <p:sldId id="294" r:id="rId25"/>
    <p:sldId id="284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8" autoAdjust="0"/>
    <p:restoredTop sz="83767" autoAdjust="0"/>
  </p:normalViewPr>
  <p:slideViewPr>
    <p:cSldViewPr snapToGrid="0">
      <p:cViewPr varScale="1">
        <p:scale>
          <a:sx n="66" d="100"/>
          <a:sy n="66" d="100"/>
        </p:scale>
        <p:origin x="512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3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ED843-FBAC-4BF9-84F2-6CB52D7BC460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109B5-5EE7-4A19-AE95-02774C49B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59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008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BF62-0E4C-E811-FFB3-F0A4C4AB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577181-5CFA-BD58-4190-5E61E031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6DDEA2C-68FE-BCE7-5850-199BD28FB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8CBB3A-2281-B5D5-0193-A1598C20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197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4A1D-FA56-0003-ADAE-61955423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B26A6F-6558-09B9-9435-B09D8C006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803589-8241-FE90-91C4-1851D528C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7FB9EA-A86A-828A-CED6-2619D82EA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770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6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43526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75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BC23-ACCF-40B7-9F8A-C869B7D2A964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bg1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8891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4078-B338-4B71-BD47-0F234CD99180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57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1777-293B-44C6-BDCA-81A8114C1E32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2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3C-504F-4161-B648-BC81B6CDF032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F4F73-EC84-473A-9021-5AE2CF45038E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0616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15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CCC4E1EE-9E13-4C2D-AFC1-1D3561D21B1A}" type="datetime1">
              <a:rPr lang="en-US" altLang="ja-JP" smtClean="0"/>
              <a:t>7/9/2026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yutaka.kotani.in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07F96F6-0283-E961-5C37-89F47AF7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896084"/>
            <a:ext cx="5019440" cy="491927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961F07B-F036-AEB6-9E15-27930A70B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General purpose PLL</a:t>
            </a:r>
            <a:br>
              <a:rPr kumimoji="1" lang="en-US" altLang="ja-JP" dirty="0"/>
            </a:br>
            <a:r>
              <a:rPr lang="en-US" altLang="ja-JP" sz="2400" b="0" dirty="0"/>
              <a:t>2026</a:t>
            </a:r>
            <a:r>
              <a:rPr kumimoji="1" lang="en-US" altLang="ja-JP" dirty="0"/>
              <a:t> </a:t>
            </a:r>
            <a:r>
              <a:rPr kumimoji="1" lang="en-US" altLang="ja-JP" sz="2400" b="0" dirty="0"/>
              <a:t> July 4</a:t>
            </a:r>
            <a:endParaRPr kumimoji="1" lang="ja-JP" altLang="en-US" b="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AA61F1-4BA6-C457-E76C-FDF43B4E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6071" y="5024582"/>
            <a:ext cx="6575892" cy="1607572"/>
          </a:xfrm>
        </p:spPr>
        <p:txBody>
          <a:bodyPr/>
          <a:lstStyle/>
          <a:p>
            <a:r>
              <a:rPr kumimoji="1" lang="en-US" altLang="ja-JP" sz="2800" dirty="0"/>
              <a:t>Super Long Wave</a:t>
            </a:r>
            <a:br>
              <a:rPr kumimoji="1" lang="en-US" altLang="ja-JP" dirty="0"/>
            </a:br>
            <a:r>
              <a:rPr kumimoji="1" lang="en-US" altLang="ja-JP" dirty="0"/>
              <a:t>  </a:t>
            </a:r>
            <a:r>
              <a:rPr kumimoji="1" lang="en-US" altLang="ja-JP" u="sng" dirty="0"/>
              <a:t>Yutaka Kotani </a:t>
            </a:r>
            <a:r>
              <a:rPr kumimoji="1" lang="en-US" altLang="ja-JP" dirty="0"/>
              <a:t>(team leader) </a:t>
            </a:r>
            <a:r>
              <a:rPr kumimoji="1" lang="en-US" altLang="ja-JP" dirty="0">
                <a:hlinkClick r:id="rId4"/>
              </a:rPr>
              <a:t>yutaka.kotani.in@gmail.com</a:t>
            </a:r>
            <a:br>
              <a:rPr kumimoji="1" lang="en-US" altLang="ja-JP" dirty="0"/>
            </a:br>
            <a:r>
              <a:rPr kumimoji="1" lang="en-US" altLang="ja-JP" dirty="0"/>
              <a:t>  </a:t>
            </a:r>
            <a:r>
              <a:rPr lang="en-US" altLang="ja-JP" dirty="0"/>
              <a:t>Ashutosh Chakravarty</a:t>
            </a:r>
            <a:br>
              <a:rPr lang="en-US" altLang="ja-JP" dirty="0"/>
            </a:br>
            <a:r>
              <a:rPr lang="en-US" altLang="ja-JP" dirty="0"/>
              <a:t>  Cheng Fei</a:t>
            </a:r>
            <a:br>
              <a:rPr lang="en-US" altLang="ja-JP" dirty="0"/>
            </a:br>
            <a:r>
              <a:rPr lang="en-US" altLang="ja-JP" dirty="0"/>
              <a:t>  Fatima</a:t>
            </a:r>
          </a:p>
        </p:txBody>
      </p:sp>
    </p:spTree>
    <p:extLst>
      <p:ext uri="{BB962C8B-B14F-4D97-AF65-F5344CB8AC3E}">
        <p14:creationId xmlns:p14="http://schemas.microsoft.com/office/powerpoint/2010/main" val="288129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6661-4046-47F1-98D2-94225025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EF677FA-40B9-3F7D-5A91-4BC0BE3CF2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6A5AB9-AB8E-0360-DD3E-E56F1DD6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962785-74AA-EE18-338B-4E8BDE90B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Project information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5B661A-4B16-1DF3-6FB0-87A361072E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0EA10EC-3415-01C5-3CFE-2BD49E178B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en-US" altLang="ja-JP" dirty="0"/>
              <a:t>Design objective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8748B37-DBF3-B9DC-F1E9-ECCC5473B3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E4EC59E-98C6-19A7-2936-625912CA50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ja-JP" dirty="0"/>
              <a:t>System overview</a:t>
            </a:r>
            <a:endParaRPr kumimoji="1" lang="ja-JP" altLang="en-US" dirty="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653D379-9F1C-32FD-34F7-01A796B1AF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1DD0D967-E749-EA7F-2FF5-017ED78F2C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Schematic summary</a:t>
            </a: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C85F449-D1EC-E3BD-7C3C-10AC829D4F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41CA7B29-5003-7696-3041-D07761D8F7E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/>
              <a:t>Verification status</a:t>
            </a:r>
            <a:endParaRPr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E49594A-BE8B-FC9F-F74E-BDEB8C70C3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ja-JP" dirty="0"/>
              <a:t>7</a:t>
            </a:r>
            <a:endParaRPr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210D5DA-40A3-B60C-F8DA-0B80DFDBC0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ja-JP" dirty="0"/>
              <a:t>Design checklist</a:t>
            </a:r>
            <a:endParaRPr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E7490CA8-B912-DEB6-5614-3B7468595AE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E3861BC6-5E78-5976-A7AE-BD56C41C5DD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ja-JP" dirty="0"/>
              <a:t>Open issues</a:t>
            </a:r>
            <a:endParaRPr lang="ja-JP" altLang="en-US" dirty="0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9AC4E61E-7EEC-3DF8-71DA-24070C5FBB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ja-JP" dirty="0"/>
              <a:t>9</a:t>
            </a:r>
            <a:endParaRPr kumimoji="1" lang="ja-JP" altLang="en-US" dirty="0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DB61899C-14BF-3259-6820-E8ADF65EF91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ja-JP" dirty="0"/>
              <a:t>Questions for reviewers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65ED61C3-A2DE-18A4-F495-DF2AAFF6F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  <p:sp>
        <p:nvSpPr>
          <p:cNvPr id="20" name="テキスト プレースホルダー 8">
            <a:extLst>
              <a:ext uri="{FF2B5EF4-FFF2-40B4-BE49-F238E27FC236}">
                <a16:creationId xmlns:a16="http://schemas.microsoft.com/office/drawing/2014/main" id="{2FA19DB5-B9D6-FD08-216B-DAF184224AF1}"/>
              </a:ext>
            </a:extLst>
          </p:cNvPr>
          <p:cNvSpPr txBox="1">
            <a:spLocks/>
          </p:cNvSpPr>
          <p:nvPr/>
        </p:nvSpPr>
        <p:spPr>
          <a:xfrm>
            <a:off x="300038" y="6035399"/>
            <a:ext cx="731520" cy="731520"/>
          </a:xfrm>
          <a:prstGeom prst="rect">
            <a:avLst/>
          </a:prstGeom>
          <a:noFill/>
        </p:spPr>
        <p:txBody>
          <a:bodyPr vert="horz" lIns="91440" tIns="45720" rIns="900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kumimoji="1"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5</a:t>
            </a:r>
            <a:endParaRPr lang="ja-JP" altLang="en-US" dirty="0"/>
          </a:p>
        </p:txBody>
      </p:sp>
      <p:sp>
        <p:nvSpPr>
          <p:cNvPr id="21" name="テキスト プレースホルダー 9">
            <a:extLst>
              <a:ext uri="{FF2B5EF4-FFF2-40B4-BE49-F238E27FC236}">
                <a16:creationId xmlns:a16="http://schemas.microsoft.com/office/drawing/2014/main" id="{5D16A7B4-F435-672C-558A-EC76684511D6}"/>
              </a:ext>
            </a:extLst>
          </p:cNvPr>
          <p:cNvSpPr txBox="1">
            <a:spLocks/>
          </p:cNvSpPr>
          <p:nvPr/>
        </p:nvSpPr>
        <p:spPr>
          <a:xfrm>
            <a:off x="1091649" y="6035399"/>
            <a:ext cx="4754880" cy="731520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kumimoji="1"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kumimoji="1"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Design assumptions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675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9FA1-8464-D2AE-16CC-BF04A67C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14FB79-0BCE-1CF0-5CCB-DC51DB236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84313"/>
            <a:ext cx="5720400" cy="4992588"/>
          </a:xfrm>
        </p:spPr>
        <p:txBody>
          <a:bodyPr/>
          <a:lstStyle/>
          <a:p>
            <a:r>
              <a:rPr lang="en-US" altLang="ja-JP" sz="2000" dirty="0"/>
              <a:t>What problems circuit solves</a:t>
            </a:r>
          </a:p>
          <a:p>
            <a:pPr lvl="1"/>
            <a:r>
              <a:rPr lang="en-US" altLang="ja-JP" sz="1600" dirty="0"/>
              <a:t>The PLL extracts the audio signal by performing FM demodulation on the 10.7 MHz intermediate frequency (IF) signal from the preceding radio front-end.</a:t>
            </a:r>
            <a:endParaRPr lang="en-US" altLang="ja-JP" sz="1600" dirty="0">
              <a:highlight>
                <a:srgbClr val="FFFF00"/>
              </a:highlight>
            </a:endParaRPr>
          </a:p>
          <a:p>
            <a:r>
              <a:rPr lang="en-US" altLang="ja-JP" sz="2000" dirty="0"/>
              <a:t>Target specifications</a:t>
            </a:r>
          </a:p>
          <a:p>
            <a:pPr lvl="1"/>
            <a:r>
              <a:rPr lang="en-US" altLang="ja-JP" sz="1800" dirty="0"/>
              <a:t>Input FM modulated IF 10.7MHz</a:t>
            </a:r>
          </a:p>
          <a:p>
            <a:pPr lvl="1"/>
            <a:r>
              <a:rPr lang="en-US" altLang="ja-JP" sz="1800" dirty="0"/>
              <a:t>Output FM demodulated audio signal</a:t>
            </a:r>
          </a:p>
          <a:p>
            <a:r>
              <a:rPr lang="en-US" altLang="ja-JP" sz="2000" dirty="0"/>
              <a:t>Intended Use</a:t>
            </a:r>
          </a:p>
          <a:p>
            <a:pPr lvl="1"/>
            <a:r>
              <a:rPr lang="en-US" altLang="ja-JP" sz="1800" dirty="0"/>
              <a:t>Create FM radio demodulator</a:t>
            </a:r>
          </a:p>
          <a:p>
            <a:r>
              <a:rPr lang="en-US" altLang="ja-JP" sz="2000" dirty="0"/>
              <a:t>Project scope and spec changes</a:t>
            </a:r>
            <a:br>
              <a:rPr lang="en-US" altLang="ja-JP" sz="2000" dirty="0"/>
            </a:br>
            <a:r>
              <a:rPr lang="en-US" altLang="ja-JP" sz="1800" dirty="0"/>
              <a:t>Following our mentor's advice, we have reduced the project scope and specifications.</a:t>
            </a:r>
          </a:p>
          <a:p>
            <a:pPr marL="612775" lvl="1" indent="-342900">
              <a:buFont typeface="+mj-lt"/>
              <a:buAutoNum type="arabicPeriod"/>
            </a:pPr>
            <a:r>
              <a:rPr lang="en-US" altLang="ja-JP" sz="1600" dirty="0"/>
              <a:t>Clock multiplier mode was deleted</a:t>
            </a:r>
            <a:endParaRPr lang="en-US" altLang="ja-JP" sz="1600" dirty="0">
              <a:highlight>
                <a:srgbClr val="FFFF00"/>
              </a:highlight>
            </a:endParaRPr>
          </a:p>
          <a:p>
            <a:pPr marL="612775" lvl="1" indent="-342900">
              <a:buFont typeface="+mj-lt"/>
              <a:buAutoNum type="arabicPeriod"/>
            </a:pPr>
            <a:r>
              <a:rPr lang="en-US" altLang="ja-JP" sz="1600" dirty="0"/>
              <a:t> Input signal was changed from a direct FM signal to an intermediate frequency of 10.7 MHz</a:t>
            </a:r>
            <a:endParaRPr lang="en-US" altLang="ja-JP" sz="1800" dirty="0"/>
          </a:p>
          <a:p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1AC9F4E-8112-FD1F-98FF-6B6077D8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Design objective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CCA3C5B-1D3D-5A16-1D36-E409E46A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</a:t>
            </a:fld>
            <a:endParaRPr lang="en-US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9105B123-4BAE-A476-325E-679C8AA2BA21}"/>
              </a:ext>
            </a:extLst>
          </p:cNvPr>
          <p:cNvCxnSpPr>
            <a:cxnSpLocks/>
          </p:cNvCxnSpPr>
          <p:nvPr/>
        </p:nvCxnSpPr>
        <p:spPr>
          <a:xfrm flipV="1">
            <a:off x="4152101" y="4737290"/>
            <a:ext cx="209321" cy="56009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5FBEB369-80FA-68C5-F231-9932E858B59C}"/>
              </a:ext>
            </a:extLst>
          </p:cNvPr>
          <p:cNvSpPr/>
          <p:nvPr/>
        </p:nvSpPr>
        <p:spPr>
          <a:xfrm>
            <a:off x="1548241" y="4591944"/>
            <a:ext cx="3267429" cy="1410886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kumimoji="1" lang="ja-JP" altLang="en-US" sz="1200" dirty="0" err="1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A28CDD79-7D1C-B8F5-5F8C-05DE41D76300}"/>
              </a:ext>
            </a:extLst>
          </p:cNvPr>
          <p:cNvSpPr/>
          <p:nvPr/>
        </p:nvSpPr>
        <p:spPr>
          <a:xfrm>
            <a:off x="5294055" y="633108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AMP &amp;</a:t>
            </a:r>
            <a:br>
              <a:rPr kumimoji="1" lang="en-US" altLang="ja-JP" sz="1200" dirty="0"/>
            </a:br>
            <a:r>
              <a:rPr kumimoji="1" lang="en-US" altLang="ja-JP" sz="1200" dirty="0"/>
              <a:t>Speaker</a:t>
            </a:r>
            <a:endParaRPr kumimoji="1" lang="ja-JP" altLang="en-US" sz="1200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0D3D2A0-12D4-3263-E74E-43E14F290CB3}"/>
              </a:ext>
            </a:extLst>
          </p:cNvPr>
          <p:cNvSpPr/>
          <p:nvPr/>
        </p:nvSpPr>
        <p:spPr>
          <a:xfrm>
            <a:off x="1787266" y="494476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PFD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CC15F4CB-83FF-8604-A095-31C910D78EEB}"/>
              </a:ext>
            </a:extLst>
          </p:cNvPr>
          <p:cNvSpPr txBox="1"/>
          <p:nvPr/>
        </p:nvSpPr>
        <p:spPr>
          <a:xfrm>
            <a:off x="2913829" y="4603769"/>
            <a:ext cx="529868" cy="24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PLL</a:t>
            </a:r>
            <a:endParaRPr kumimoji="1" lang="ja-JP" altLang="en-US" sz="1200" b="1" dirty="0" err="1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450AA0C6-5397-711B-0A1F-39A300A8CA04}"/>
              </a:ext>
            </a:extLst>
          </p:cNvPr>
          <p:cNvSpPr/>
          <p:nvPr/>
        </p:nvSpPr>
        <p:spPr>
          <a:xfrm>
            <a:off x="2768542" y="552307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VCO</a:t>
            </a:r>
            <a:endParaRPr lang="ja-JP" altLang="en-US" sz="11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75AAD268-C54E-3102-3940-46F9385C1A39}"/>
              </a:ext>
            </a:extLst>
          </p:cNvPr>
          <p:cNvSpPr/>
          <p:nvPr/>
        </p:nvSpPr>
        <p:spPr>
          <a:xfrm>
            <a:off x="300037" y="494301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FM radio</a:t>
            </a:r>
            <a:br>
              <a:rPr kumimoji="1" lang="en-US" altLang="ja-JP" sz="1200" dirty="0"/>
            </a:br>
            <a:r>
              <a:rPr kumimoji="1" lang="en-US" altLang="ja-JP" sz="1200" dirty="0"/>
              <a:t>Frontend</a:t>
            </a:r>
            <a:endParaRPr kumimoji="1" lang="ja-JP" altLang="en-US" sz="1200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3CD6633E-AC15-3214-1B33-EC3104F379BE}"/>
              </a:ext>
            </a:extLst>
          </p:cNvPr>
          <p:cNvSpPr/>
          <p:nvPr/>
        </p:nvSpPr>
        <p:spPr>
          <a:xfrm>
            <a:off x="2762192" y="4944764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Charge</a:t>
            </a:r>
            <a:br>
              <a:rPr kumimoji="1" lang="en-US" altLang="ja-JP" sz="1100" dirty="0"/>
            </a:br>
            <a:r>
              <a:rPr kumimoji="1" lang="en-US" altLang="ja-JP" sz="1100" dirty="0"/>
              <a:t>pump</a:t>
            </a:r>
            <a:endParaRPr kumimoji="1" lang="ja-JP" altLang="en-US" sz="1100" dirty="0"/>
          </a:p>
        </p:txBody>
      </p: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CE272A00-871F-1D4B-A1FC-D1F16E588519}"/>
              </a:ext>
            </a:extLst>
          </p:cNvPr>
          <p:cNvCxnSpPr>
            <a:cxnSpLocks/>
            <a:stCxn id="68" idx="3"/>
            <a:endCxn id="72" idx="1"/>
          </p:cNvCxnSpPr>
          <p:nvPr/>
        </p:nvCxnSpPr>
        <p:spPr>
          <a:xfrm>
            <a:off x="2607707" y="5121075"/>
            <a:ext cx="15448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FBA0CFBE-C6B2-5004-2B1B-03D6BEFD6A51}"/>
              </a:ext>
            </a:extLst>
          </p:cNvPr>
          <p:cNvCxnSpPr>
            <a:cxnSpLocks/>
            <a:stCxn id="72" idx="3"/>
            <a:endCxn id="85" idx="1"/>
          </p:cNvCxnSpPr>
          <p:nvPr/>
        </p:nvCxnSpPr>
        <p:spPr>
          <a:xfrm>
            <a:off x="3582633" y="5121075"/>
            <a:ext cx="1387522" cy="1283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C8408D57-C15D-EB86-121D-9099DE496B75}"/>
              </a:ext>
            </a:extLst>
          </p:cNvPr>
          <p:cNvSpPr txBox="1"/>
          <p:nvPr/>
        </p:nvSpPr>
        <p:spPr>
          <a:xfrm>
            <a:off x="998335" y="4684778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1" dirty="0">
                <a:highlight>
                  <a:srgbClr val="FFFF00"/>
                </a:highlight>
              </a:rPr>
              <a:t>10.7MHz </a:t>
            </a:r>
            <a:endParaRPr kumimoji="1" lang="ja-JP" altLang="en-US" sz="1200" b="1" dirty="0" err="1">
              <a:highlight>
                <a:srgbClr val="FFFF00"/>
              </a:highlight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AE6B161-311B-4F1A-AF91-4E2D2B25E004}"/>
              </a:ext>
            </a:extLst>
          </p:cNvPr>
          <p:cNvSpPr txBox="1"/>
          <p:nvPr/>
        </p:nvSpPr>
        <p:spPr>
          <a:xfrm>
            <a:off x="4547757" y="6015236"/>
            <a:ext cx="647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Audio Signal</a:t>
            </a:r>
            <a:endParaRPr kumimoji="1" lang="ja-JP" altLang="en-US" sz="1200" b="1" dirty="0" err="1"/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4197E091-F077-6519-36A2-00B4A0C15265}"/>
              </a:ext>
            </a:extLst>
          </p:cNvPr>
          <p:cNvCxnSpPr>
            <a:cxnSpLocks/>
            <a:stCxn id="71" idx="3"/>
            <a:endCxn id="68" idx="1"/>
          </p:cNvCxnSpPr>
          <p:nvPr/>
        </p:nvCxnSpPr>
        <p:spPr>
          <a:xfrm>
            <a:off x="1120478" y="5119328"/>
            <a:ext cx="666788" cy="174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85A20B46-AB3F-7A9C-AC0E-BCF868E188C4}"/>
              </a:ext>
            </a:extLst>
          </p:cNvPr>
          <p:cNvCxnSpPr>
            <a:cxnSpLocks/>
            <a:stCxn id="99" idx="2"/>
            <a:endCxn id="93" idx="0"/>
          </p:cNvCxnSpPr>
          <p:nvPr/>
        </p:nvCxnSpPr>
        <p:spPr>
          <a:xfrm flipH="1">
            <a:off x="4152100" y="5871364"/>
            <a:ext cx="1" cy="45972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82A3A44-8452-8B90-65D9-EE57ABBCA348}"/>
              </a:ext>
            </a:extLst>
          </p:cNvPr>
          <p:cNvSpPr/>
          <p:nvPr/>
        </p:nvSpPr>
        <p:spPr>
          <a:xfrm>
            <a:off x="4970155" y="4957602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200" dirty="0"/>
              <a:t>Loop</a:t>
            </a:r>
            <a:br>
              <a:rPr lang="en-US" altLang="ja-JP" sz="1200" dirty="0"/>
            </a:br>
            <a:r>
              <a:rPr lang="en-US" altLang="ja-JP" sz="1200" dirty="0"/>
              <a:t>Filter</a:t>
            </a:r>
            <a:endParaRPr kumimoji="1" lang="ja-JP" altLang="en-US" sz="1200" dirty="0"/>
          </a:p>
        </p:txBody>
      </p: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E44C92C6-3FE0-B4EE-1A2F-7A97C7F5452D}"/>
              </a:ext>
            </a:extLst>
          </p:cNvPr>
          <p:cNvCxnSpPr>
            <a:cxnSpLocks/>
            <a:stCxn id="70" idx="1"/>
            <a:endCxn id="68" idx="2"/>
          </p:cNvCxnSpPr>
          <p:nvPr/>
        </p:nvCxnSpPr>
        <p:spPr>
          <a:xfrm rot="10800000">
            <a:off x="2197488" y="5297387"/>
            <a:ext cx="571055" cy="401999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B1C01314-1F08-53F3-F6E2-09814DE56BF2}"/>
              </a:ext>
            </a:extLst>
          </p:cNvPr>
          <p:cNvSpPr/>
          <p:nvPr/>
        </p:nvSpPr>
        <p:spPr>
          <a:xfrm>
            <a:off x="3741879" y="6331087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LPF</a:t>
            </a:r>
            <a:endParaRPr kumimoji="1" lang="ja-JP" altLang="en-US" sz="1200" dirty="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1B52F4FD-9353-F8C7-7DEC-AD5C4F40E5C2}"/>
              </a:ext>
            </a:extLst>
          </p:cNvPr>
          <p:cNvSpPr/>
          <p:nvPr/>
        </p:nvSpPr>
        <p:spPr>
          <a:xfrm>
            <a:off x="3741880" y="5518742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Buffer</a:t>
            </a:r>
            <a:endParaRPr kumimoji="1" lang="ja-JP" altLang="en-US" sz="1100" dirty="0"/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7EFDED0F-6778-E38A-C273-48C862B843AA}"/>
              </a:ext>
            </a:extLst>
          </p:cNvPr>
          <p:cNvCxnSpPr>
            <a:cxnSpLocks/>
            <a:stCxn id="99" idx="1"/>
          </p:cNvCxnSpPr>
          <p:nvPr/>
        </p:nvCxnSpPr>
        <p:spPr>
          <a:xfrm flipH="1">
            <a:off x="3588982" y="5695053"/>
            <a:ext cx="152898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C7567A74-80CB-BDDF-C48F-096181569E16}"/>
              </a:ext>
            </a:extLst>
          </p:cNvPr>
          <p:cNvCxnSpPr>
            <a:cxnSpLocks/>
            <a:stCxn id="93" idx="3"/>
            <a:endCxn id="67" idx="1"/>
          </p:cNvCxnSpPr>
          <p:nvPr/>
        </p:nvCxnSpPr>
        <p:spPr>
          <a:xfrm>
            <a:off x="4562320" y="6507398"/>
            <a:ext cx="73173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矢印コネクタ 151">
            <a:extLst>
              <a:ext uri="{FF2B5EF4-FFF2-40B4-BE49-F238E27FC236}">
                <a16:creationId xmlns:a16="http://schemas.microsoft.com/office/drawing/2014/main" id="{C02D2F7B-4CAC-6144-ABF6-66CEB5F3E135}"/>
              </a:ext>
            </a:extLst>
          </p:cNvPr>
          <p:cNvCxnSpPr>
            <a:cxnSpLocks/>
            <a:endCxn id="70" idx="2"/>
          </p:cNvCxnSpPr>
          <p:nvPr/>
        </p:nvCxnSpPr>
        <p:spPr>
          <a:xfrm flipV="1">
            <a:off x="3178763" y="5875696"/>
            <a:ext cx="0" cy="45539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グループ化 194">
            <a:extLst>
              <a:ext uri="{FF2B5EF4-FFF2-40B4-BE49-F238E27FC236}">
                <a16:creationId xmlns:a16="http://schemas.microsoft.com/office/drawing/2014/main" id="{5D4CD84B-2E7F-14D2-4D14-4E114D0CC624}"/>
              </a:ext>
            </a:extLst>
          </p:cNvPr>
          <p:cNvGrpSpPr/>
          <p:nvPr/>
        </p:nvGrpSpPr>
        <p:grpSpPr>
          <a:xfrm>
            <a:off x="300037" y="1236592"/>
            <a:ext cx="5555772" cy="5087963"/>
            <a:chOff x="300037" y="1236592"/>
            <a:chExt cx="5555772" cy="5087963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AB90196-4BD2-119F-8FAB-A85B69902D30}"/>
                </a:ext>
              </a:extLst>
            </p:cNvPr>
            <p:cNvSpPr txBox="1"/>
            <p:nvPr/>
          </p:nvSpPr>
          <p:spPr>
            <a:xfrm>
              <a:off x="1558352" y="1236592"/>
              <a:ext cx="36156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b="1" dirty="0"/>
                <a:t>Clock multiplier mode</a:t>
              </a:r>
              <a:endParaRPr kumimoji="1" lang="ja-JP" altLang="en-US" sz="2000" b="1" dirty="0" err="1"/>
            </a:p>
          </p:txBody>
        </p:sp>
        <p:grpSp>
          <p:nvGrpSpPr>
            <p:cNvPr id="190" name="グループ化 189">
              <a:extLst>
                <a:ext uri="{FF2B5EF4-FFF2-40B4-BE49-F238E27FC236}">
                  <a16:creationId xmlns:a16="http://schemas.microsoft.com/office/drawing/2014/main" id="{BF816374-736D-6A05-10A9-8763446CCF6A}"/>
                </a:ext>
              </a:extLst>
            </p:cNvPr>
            <p:cNvGrpSpPr/>
            <p:nvPr/>
          </p:nvGrpSpPr>
          <p:grpSpPr>
            <a:xfrm>
              <a:off x="300037" y="1665375"/>
              <a:ext cx="5555772" cy="4659180"/>
              <a:chOff x="300037" y="1870134"/>
              <a:chExt cx="5555772" cy="4659180"/>
            </a:xfrm>
          </p:grpSpPr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8AA910D1-DF30-82F8-CF46-BA07EDE9D4E4}"/>
                  </a:ext>
                </a:extLst>
              </p:cNvPr>
              <p:cNvSpPr/>
              <p:nvPr/>
            </p:nvSpPr>
            <p:spPr>
              <a:xfrm>
                <a:off x="1548241" y="1870134"/>
                <a:ext cx="3267429" cy="1410886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kumimoji="1" lang="ja-JP" altLang="en-US" sz="1200" dirty="0" err="1"/>
              </a:p>
            </p:txBody>
          </p:sp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0DD387A1-C087-0A3A-9D5D-6EB996D9A134}"/>
                  </a:ext>
                </a:extLst>
              </p:cNvPr>
              <p:cNvSpPr/>
              <p:nvPr/>
            </p:nvSpPr>
            <p:spPr>
              <a:xfrm>
                <a:off x="1984965" y="3598126"/>
                <a:ext cx="54728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CPU</a:t>
                </a:r>
                <a:endParaRPr kumimoji="1" lang="ja-JP" altLang="en-US" sz="1200" dirty="0"/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D907E3FF-3F7A-DBD5-1EA8-CD93DC9128F7}"/>
                  </a:ext>
                </a:extLst>
              </p:cNvPr>
              <p:cNvSpPr/>
              <p:nvPr/>
            </p:nvSpPr>
            <p:spPr>
              <a:xfrm>
                <a:off x="1787266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PFD</a:t>
                </a: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D76ADB0-5734-7B02-7F1C-331430632BC2}"/>
                  </a:ext>
                </a:extLst>
              </p:cNvPr>
              <p:cNvSpPr txBox="1"/>
              <p:nvPr/>
            </p:nvSpPr>
            <p:spPr>
              <a:xfrm>
                <a:off x="2913829" y="1881959"/>
                <a:ext cx="529868" cy="24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200" b="1" dirty="0"/>
                  <a:t>PLL</a:t>
                </a:r>
                <a:endParaRPr kumimoji="1" lang="ja-JP" altLang="en-US" sz="1200" b="1" dirty="0" err="1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1C640E25-0941-88D8-9193-4DA1E7DB2FAC}"/>
                  </a:ext>
                </a:extLst>
              </p:cNvPr>
              <p:cNvSpPr/>
              <p:nvPr/>
            </p:nvSpPr>
            <p:spPr>
              <a:xfrm>
                <a:off x="2762191" y="280126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VCO</a:t>
                </a:r>
                <a:endParaRPr lang="ja-JP" altLang="en-US" sz="1100" dirty="0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FC96C682-5FE7-CAD8-E8AC-A131DC388265}"/>
                  </a:ext>
                </a:extLst>
              </p:cNvPr>
              <p:cNvSpPr/>
              <p:nvPr/>
            </p:nvSpPr>
            <p:spPr>
              <a:xfrm>
                <a:off x="300037" y="222120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Crystal</a:t>
                </a:r>
                <a:br>
                  <a:rPr kumimoji="1" lang="en-US" altLang="ja-JP" sz="1200" dirty="0"/>
                </a:br>
                <a:r>
                  <a:rPr kumimoji="1" lang="en-US" altLang="ja-JP" sz="1200" dirty="0"/>
                  <a:t>Oscillator</a:t>
                </a:r>
                <a:endParaRPr kumimoji="1" lang="ja-JP" altLang="en-US" sz="1200" dirty="0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EBACC077-D2E7-4240-8347-0ABDFA75AB57}"/>
                  </a:ext>
                </a:extLst>
              </p:cNvPr>
              <p:cNvSpPr/>
              <p:nvPr/>
            </p:nvSpPr>
            <p:spPr>
              <a:xfrm>
                <a:off x="2762192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Charge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pump</a:t>
                </a:r>
                <a:endParaRPr kumimoji="1" lang="ja-JP" altLang="en-US" sz="1100" dirty="0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051CD84-6514-1AD7-93AB-139A96443808}"/>
                  </a:ext>
                </a:extLst>
              </p:cNvPr>
              <p:cNvSpPr/>
              <p:nvPr/>
            </p:nvSpPr>
            <p:spPr>
              <a:xfrm>
                <a:off x="5035368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Loop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Filter</a:t>
                </a:r>
                <a:endParaRPr kumimoji="1" lang="ja-JP" altLang="en-US" sz="1100" dirty="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5E30EC31-FA78-6326-5B3C-23766700FD08}"/>
                  </a:ext>
                </a:extLst>
              </p:cNvPr>
              <p:cNvSpPr/>
              <p:nvPr/>
            </p:nvSpPr>
            <p:spPr>
              <a:xfrm>
                <a:off x="1787266" y="2801263"/>
                <a:ext cx="72026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Divider</a:t>
                </a:r>
                <a:endParaRPr kumimoji="1" lang="ja-JP" altLang="en-US" sz="1200" dirty="0"/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57687574-6BD4-51D5-6DCB-16EB0DB46377}"/>
                  </a:ext>
                </a:extLst>
              </p:cNvPr>
              <p:cNvCxnSpPr>
                <a:cxnSpLocks/>
                <a:stCxn id="6" idx="3"/>
                <a:endCxn id="11" idx="1"/>
              </p:cNvCxnSpPr>
              <p:nvPr/>
            </p:nvCxnSpPr>
            <p:spPr>
              <a:xfrm>
                <a:off x="2607707" y="2399265"/>
                <a:ext cx="15448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7CFA99AC-C67F-86EE-C6E0-E5D514BBE5A8}"/>
                  </a:ext>
                </a:extLst>
              </p:cNvPr>
              <p:cNvCxnSpPr>
                <a:cxnSpLocks/>
                <a:stCxn id="11" idx="3"/>
                <a:endCxn id="12" idx="1"/>
              </p:cNvCxnSpPr>
              <p:nvPr/>
            </p:nvCxnSpPr>
            <p:spPr>
              <a:xfrm>
                <a:off x="3582633" y="2399265"/>
                <a:ext cx="145273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BB79CD3F-C096-34A9-C9EE-734717F6247D}"/>
                  </a:ext>
                </a:extLst>
              </p:cNvPr>
              <p:cNvCxnSpPr>
                <a:cxnSpLocks/>
                <a:stCxn id="9" idx="1"/>
                <a:endCxn id="13" idx="3"/>
              </p:cNvCxnSpPr>
              <p:nvPr/>
            </p:nvCxnSpPr>
            <p:spPr>
              <a:xfrm flipH="1" flipV="1">
                <a:off x="2507527" y="2977574"/>
                <a:ext cx="254664" cy="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7217B696-1D02-2560-6376-ED7698B43E7F}"/>
                  </a:ext>
                </a:extLst>
              </p:cNvPr>
              <p:cNvSpPr txBox="1"/>
              <p:nvPr/>
            </p:nvSpPr>
            <p:spPr>
              <a:xfrm>
                <a:off x="1199144" y="3328071"/>
                <a:ext cx="11020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CLK:80MH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83A5592D-2C2A-4DF8-A30C-01CC79E8438C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2147397" y="2571082"/>
                <a:ext cx="0" cy="23018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矢印コネクタ 54">
                <a:extLst>
                  <a:ext uri="{FF2B5EF4-FFF2-40B4-BE49-F238E27FC236}">
                    <a16:creationId xmlns:a16="http://schemas.microsoft.com/office/drawing/2014/main" id="{112BB42A-E044-1892-8753-406ED58F85C2}"/>
                  </a:ext>
                </a:extLst>
              </p:cNvPr>
              <p:cNvCxnSpPr>
                <a:cxnSpLocks/>
                <a:stCxn id="10" idx="3"/>
                <a:endCxn id="6" idx="1"/>
              </p:cNvCxnSpPr>
              <p:nvPr/>
            </p:nvCxnSpPr>
            <p:spPr>
              <a:xfrm>
                <a:off x="1120478" y="2397518"/>
                <a:ext cx="666788" cy="1747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矢印コネクタ 161">
                <a:extLst>
                  <a:ext uri="{FF2B5EF4-FFF2-40B4-BE49-F238E27FC236}">
                    <a16:creationId xmlns:a16="http://schemas.microsoft.com/office/drawing/2014/main" id="{544C12F4-B7A0-DB5F-A880-D7FAD09CFAF5}"/>
                  </a:ext>
                </a:extLst>
              </p:cNvPr>
              <p:cNvCxnSpPr>
                <a:cxnSpLocks/>
                <a:stCxn id="160" idx="1"/>
                <a:endCxn id="9" idx="3"/>
              </p:cNvCxnSpPr>
              <p:nvPr/>
            </p:nvCxnSpPr>
            <p:spPr>
              <a:xfrm flipH="1" flipV="1">
                <a:off x="3582632" y="2977575"/>
                <a:ext cx="154484" cy="4493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正方形/長方形 159">
                <a:extLst>
                  <a:ext uri="{FF2B5EF4-FFF2-40B4-BE49-F238E27FC236}">
                    <a16:creationId xmlns:a16="http://schemas.microsoft.com/office/drawing/2014/main" id="{3FE84A21-2A7D-087E-BE9B-9324CDFA64E3}"/>
                  </a:ext>
                </a:extLst>
              </p:cNvPr>
              <p:cNvSpPr/>
              <p:nvPr/>
            </p:nvSpPr>
            <p:spPr>
              <a:xfrm>
                <a:off x="3737116" y="280575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Buffer</a:t>
                </a:r>
                <a:endParaRPr kumimoji="1" lang="ja-JP" altLang="en-US" sz="1100" dirty="0"/>
              </a:p>
            </p:txBody>
          </p:sp>
          <p:cxnSp>
            <p:nvCxnSpPr>
              <p:cNvPr id="169" name="コネクタ: カギ線 168">
                <a:extLst>
                  <a:ext uri="{FF2B5EF4-FFF2-40B4-BE49-F238E27FC236}">
                    <a16:creationId xmlns:a16="http://schemas.microsoft.com/office/drawing/2014/main" id="{88829663-50B5-9484-452F-B961CF952B4B}"/>
                  </a:ext>
                </a:extLst>
              </p:cNvPr>
              <p:cNvCxnSpPr>
                <a:cxnSpLocks/>
                <a:stCxn id="13" idx="3"/>
                <a:endCxn id="5" idx="0"/>
              </p:cNvCxnSpPr>
              <p:nvPr/>
            </p:nvCxnSpPr>
            <p:spPr>
              <a:xfrm flipH="1">
                <a:off x="2258606" y="2977574"/>
                <a:ext cx="248921" cy="620552"/>
              </a:xfrm>
              <a:prstGeom prst="bentConnector4">
                <a:avLst>
                  <a:gd name="adj1" fmla="val -64625"/>
                  <a:gd name="adj2" fmla="val 64206"/>
                </a:avLst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正方形/長方形 175">
                <a:extLst>
                  <a:ext uri="{FF2B5EF4-FFF2-40B4-BE49-F238E27FC236}">
                    <a16:creationId xmlns:a16="http://schemas.microsoft.com/office/drawing/2014/main" id="{3F2EFE39-1378-A9FB-EEBC-73703D0A665D}"/>
                  </a:ext>
                </a:extLst>
              </p:cNvPr>
              <p:cNvSpPr/>
              <p:nvPr/>
            </p:nvSpPr>
            <p:spPr>
              <a:xfrm>
                <a:off x="2762191" y="3598389"/>
                <a:ext cx="1050385" cy="34122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2x Current</a:t>
                </a:r>
                <a:br>
                  <a:rPr lang="en-US" altLang="ja-JP" sz="1100" dirty="0"/>
                </a:br>
                <a:r>
                  <a:rPr lang="en-US" altLang="ja-JP" sz="1100" dirty="0"/>
                  <a:t>Source</a:t>
                </a:r>
                <a:endParaRPr lang="ja-JP" altLang="en-US" sz="1100" dirty="0"/>
              </a:p>
            </p:txBody>
          </p:sp>
          <p:sp>
            <p:nvSpPr>
              <p:cNvPr id="177" name="テキスト ボックス 176">
                <a:extLst>
                  <a:ext uri="{FF2B5EF4-FFF2-40B4-BE49-F238E27FC236}">
                    <a16:creationId xmlns:a16="http://schemas.microsoft.com/office/drawing/2014/main" id="{363117F4-CDDC-A4B7-610A-6FDF21F1A55C}"/>
                  </a:ext>
                </a:extLst>
              </p:cNvPr>
              <p:cNvSpPr txBox="1"/>
              <p:nvPr/>
            </p:nvSpPr>
            <p:spPr>
              <a:xfrm>
                <a:off x="3355065" y="3160866"/>
                <a:ext cx="1690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 Frequency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&amp; KVCO adjust</a:t>
                </a:r>
                <a:endParaRPr kumimoji="1" lang="ja-JP" altLang="en-US" sz="1200" b="1" dirty="0" err="1"/>
              </a:p>
            </p:txBody>
          </p:sp>
          <p:cxnSp>
            <p:nvCxnSpPr>
              <p:cNvPr id="178" name="直線矢印コネクタ 177">
                <a:extLst>
                  <a:ext uri="{FF2B5EF4-FFF2-40B4-BE49-F238E27FC236}">
                    <a16:creationId xmlns:a16="http://schemas.microsoft.com/office/drawing/2014/main" id="{1CA66A04-EA48-95E5-3A85-224DBB3CFFD7}"/>
                  </a:ext>
                </a:extLst>
              </p:cNvPr>
              <p:cNvCxnSpPr>
                <a:cxnSpLocks/>
                <a:endCxn id="9" idx="2"/>
              </p:cNvCxnSpPr>
              <p:nvPr/>
            </p:nvCxnSpPr>
            <p:spPr>
              <a:xfrm flipV="1">
                <a:off x="3172410" y="3153886"/>
                <a:ext cx="2" cy="45539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テキスト ボックス 193">
                <a:extLst>
                  <a:ext uri="{FF2B5EF4-FFF2-40B4-BE49-F238E27FC236}">
                    <a16:creationId xmlns:a16="http://schemas.microsoft.com/office/drawing/2014/main" id="{8BA9F8C5-147D-2CC0-34B0-9B58C1594C93}"/>
                  </a:ext>
                </a:extLst>
              </p:cNvPr>
              <p:cNvSpPr txBox="1"/>
              <p:nvPr/>
            </p:nvSpPr>
            <p:spPr>
              <a:xfrm>
                <a:off x="935369" y="1910683"/>
                <a:ext cx="12257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CLK:10MH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B563958-4813-4482-FC4F-38FD12695D8A}"/>
                  </a:ext>
                </a:extLst>
              </p:cNvPr>
              <p:cNvSpPr txBox="1"/>
              <p:nvPr/>
            </p:nvSpPr>
            <p:spPr>
              <a:xfrm>
                <a:off x="1737118" y="6067649"/>
                <a:ext cx="1690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 Frequency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adjust</a:t>
                </a:r>
                <a:endParaRPr kumimoji="1" lang="ja-JP" altLang="en-US" sz="1200" b="1" dirty="0" err="1"/>
              </a:p>
            </p:txBody>
          </p:sp>
        </p:grpSp>
      </p:grp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72529422-9F00-66CB-3198-43668F2B3D79}"/>
              </a:ext>
            </a:extLst>
          </p:cNvPr>
          <p:cNvSpPr txBox="1"/>
          <p:nvPr/>
        </p:nvSpPr>
        <p:spPr>
          <a:xfrm>
            <a:off x="1558352" y="4146546"/>
            <a:ext cx="3615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FM demodulator mode</a:t>
            </a:r>
            <a:endParaRPr kumimoji="1" lang="ja-JP" altLang="en-US" sz="2000" b="1" dirty="0" err="1"/>
          </a:p>
        </p:txBody>
      </p: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E36D6095-4142-1186-4260-D71033093A44}"/>
              </a:ext>
            </a:extLst>
          </p:cNvPr>
          <p:cNvCxnSpPr/>
          <p:nvPr/>
        </p:nvCxnSpPr>
        <p:spPr>
          <a:xfrm flipH="1">
            <a:off x="282804" y="4038600"/>
            <a:ext cx="5558532" cy="0"/>
          </a:xfrm>
          <a:prstGeom prst="line">
            <a:avLst/>
          </a:prstGeom>
          <a:ln w="19050" cap="flat" cmpd="sng" algn="ctr">
            <a:solidFill>
              <a:schemeClr val="tx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34E87ABD-ACEB-A6D1-90FA-5CA4F231112E}"/>
              </a:ext>
            </a:extLst>
          </p:cNvPr>
          <p:cNvCxnSpPr>
            <a:cxnSpLocks/>
            <a:stCxn id="85" idx="2"/>
            <a:endCxn id="99" idx="3"/>
          </p:cNvCxnSpPr>
          <p:nvPr/>
        </p:nvCxnSpPr>
        <p:spPr>
          <a:xfrm rot="5400000">
            <a:off x="4778935" y="5093611"/>
            <a:ext cx="384829" cy="818055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80D0098F-64A8-DB79-B607-F89846C70535}"/>
              </a:ext>
            </a:extLst>
          </p:cNvPr>
          <p:cNvCxnSpPr>
            <a:cxnSpLocks/>
            <a:stCxn id="12" idx="2"/>
            <a:endCxn id="160" idx="3"/>
          </p:cNvCxnSpPr>
          <p:nvPr/>
        </p:nvCxnSpPr>
        <p:spPr>
          <a:xfrm rot="5400000">
            <a:off x="4798327" y="2130047"/>
            <a:ext cx="406492" cy="888032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9F0DABA-68FB-38D6-4F16-FACFE2CF5CDE}"/>
              </a:ext>
            </a:extLst>
          </p:cNvPr>
          <p:cNvSpPr/>
          <p:nvPr/>
        </p:nvSpPr>
        <p:spPr>
          <a:xfrm>
            <a:off x="2555942" y="6329612"/>
            <a:ext cx="1050385" cy="341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Current</a:t>
            </a:r>
            <a:br>
              <a:rPr lang="en-US" altLang="ja-JP" sz="1100" dirty="0"/>
            </a:br>
            <a:r>
              <a:rPr lang="en-US" altLang="ja-JP" sz="1100" dirty="0"/>
              <a:t>Source</a:t>
            </a:r>
            <a:endParaRPr lang="ja-JP" altLang="en-US" sz="11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7C34821-6992-3EEE-B5D0-2A93D0F4170C}"/>
              </a:ext>
            </a:extLst>
          </p:cNvPr>
          <p:cNvCxnSpPr/>
          <p:nvPr/>
        </p:nvCxnSpPr>
        <p:spPr>
          <a:xfrm>
            <a:off x="466165" y="779929"/>
            <a:ext cx="5324431" cy="2954921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EDFD94B-BB02-8A25-C383-02C4125F8E26}"/>
              </a:ext>
            </a:extLst>
          </p:cNvPr>
          <p:cNvCxnSpPr>
            <a:cxnSpLocks/>
          </p:cNvCxnSpPr>
          <p:nvPr/>
        </p:nvCxnSpPr>
        <p:spPr>
          <a:xfrm flipH="1">
            <a:off x="268190" y="642489"/>
            <a:ext cx="5513828" cy="3064895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0E1BEF-2BDD-41A6-4200-162BB677FDDF}"/>
              </a:ext>
            </a:extLst>
          </p:cNvPr>
          <p:cNvSpPr txBox="1"/>
          <p:nvPr/>
        </p:nvSpPr>
        <p:spPr>
          <a:xfrm>
            <a:off x="4662331" y="959593"/>
            <a:ext cx="53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b="1" dirty="0">
                <a:highlight>
                  <a:srgbClr val="FFFF00"/>
                </a:highlight>
              </a:rPr>
              <a:t>*1</a:t>
            </a:r>
            <a:endParaRPr kumimoji="1" lang="ja-JP" altLang="en-US" sz="2400" b="1" dirty="0" err="1">
              <a:highlight>
                <a:srgbClr val="FFFF00"/>
              </a:highligh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A155B7C-A556-7826-17A8-2BAE728400F2}"/>
              </a:ext>
            </a:extLst>
          </p:cNvPr>
          <p:cNvSpPr txBox="1"/>
          <p:nvPr/>
        </p:nvSpPr>
        <p:spPr>
          <a:xfrm>
            <a:off x="905679" y="4305041"/>
            <a:ext cx="53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400" b="1" dirty="0">
                <a:highlight>
                  <a:srgbClr val="FFFF00"/>
                </a:highlight>
              </a:rPr>
              <a:t>*2</a:t>
            </a:r>
            <a:endParaRPr kumimoji="1" lang="ja-JP" altLang="en-US" sz="2400" b="1" dirty="0" err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751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20AF00-5176-B20A-1B33-E2FB18D62A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sz="1800" dirty="0"/>
              <a:t>PFD</a:t>
            </a:r>
            <a:br>
              <a:rPr kumimoji="1" lang="en-US" altLang="ja-JP" sz="1800" dirty="0"/>
            </a:br>
            <a:r>
              <a:rPr kumimoji="1" lang="en-US" altLang="ja-JP" sz="1800" dirty="0"/>
              <a:t>* </a:t>
            </a:r>
            <a:r>
              <a:rPr kumimoji="1" lang="en-US" altLang="ja-JP" sz="1800" dirty="0" err="1"/>
              <a:t>buttercutter</a:t>
            </a:r>
            <a:r>
              <a:rPr kumimoji="1" lang="en-US" altLang="ja-JP" sz="1800" dirty="0"/>
              <a:t> write here.</a:t>
            </a:r>
          </a:p>
          <a:p>
            <a:r>
              <a:rPr lang="en-US" altLang="ja-JP" sz="1800" dirty="0"/>
              <a:t>Charge pump</a:t>
            </a:r>
            <a:br>
              <a:rPr lang="en-US" altLang="ja-JP" sz="1800" dirty="0"/>
            </a:br>
            <a:r>
              <a:rPr lang="en-US" altLang="ja-JP" sz="1800" dirty="0"/>
              <a:t>* fa_84 write here.</a:t>
            </a:r>
          </a:p>
          <a:p>
            <a:r>
              <a:rPr lang="en-US" altLang="ja-JP" sz="1800" dirty="0"/>
              <a:t>Loop filter</a:t>
            </a:r>
            <a:r>
              <a:rPr lang="ja-JP" altLang="en-US" sz="1800" dirty="0"/>
              <a:t> </a:t>
            </a:r>
            <a:r>
              <a:rPr lang="en-US" altLang="ja-JP" sz="1800" dirty="0"/>
              <a:t>(external)</a:t>
            </a:r>
            <a:br>
              <a:rPr lang="en-US" altLang="ja-JP" sz="1800" dirty="0"/>
            </a:br>
            <a:r>
              <a:rPr lang="en-US" altLang="ja-JP" sz="1800" dirty="0"/>
              <a:t>* fa_84 write here.</a:t>
            </a:r>
          </a:p>
          <a:p>
            <a:r>
              <a:rPr kumimoji="1" lang="en-US" altLang="ja-JP" sz="1800" dirty="0"/>
              <a:t>Buffer</a:t>
            </a:r>
            <a:br>
              <a:rPr kumimoji="1" lang="en-US" altLang="ja-JP" sz="1800" dirty="0"/>
            </a:br>
            <a:r>
              <a:rPr lang="en-US" altLang="ja-JP" sz="1800" dirty="0"/>
              <a:t>* Teddy write here.</a:t>
            </a:r>
          </a:p>
          <a:p>
            <a:r>
              <a:rPr lang="en-US" altLang="ja-JP" sz="1800" dirty="0"/>
              <a:t>LPF (external)</a:t>
            </a:r>
            <a:br>
              <a:rPr lang="en-US" altLang="ja-JP" sz="1800" dirty="0"/>
            </a:br>
            <a:r>
              <a:rPr lang="en-US" altLang="ja-JP" sz="1800" dirty="0"/>
              <a:t>* Teddy write here.</a:t>
            </a:r>
            <a:endParaRPr kumimoji="1" lang="en-US" altLang="ja-JP" sz="1800" dirty="0"/>
          </a:p>
          <a:p>
            <a:r>
              <a:rPr lang="en-US" altLang="ja-JP" sz="1800" dirty="0"/>
              <a:t>VCO</a:t>
            </a:r>
            <a:br>
              <a:rPr lang="en-US" altLang="ja-JP" sz="1800" dirty="0"/>
            </a:br>
            <a:r>
              <a:rPr lang="en-US" altLang="ja-JP" sz="1800" dirty="0"/>
              <a:t>*</a:t>
            </a:r>
            <a:r>
              <a:rPr lang="ja-JP" altLang="en-US" sz="1800" dirty="0"/>
              <a:t> </a:t>
            </a:r>
            <a:r>
              <a:rPr lang="en-US" altLang="ja-JP" sz="1800" dirty="0"/>
              <a:t>Yutaka</a:t>
            </a:r>
            <a:r>
              <a:rPr lang="ja-JP" altLang="en-US" sz="1800" dirty="0"/>
              <a:t> </a:t>
            </a:r>
            <a:r>
              <a:rPr lang="en-US" altLang="ja-JP" sz="1800" dirty="0"/>
              <a:t>KOTANI</a:t>
            </a:r>
            <a:r>
              <a:rPr lang="ja-JP" altLang="en-US" sz="1800" dirty="0"/>
              <a:t> </a:t>
            </a:r>
            <a:r>
              <a:rPr lang="en-US" altLang="ja-JP" sz="1800" dirty="0"/>
              <a:t>write</a:t>
            </a:r>
            <a:r>
              <a:rPr lang="ja-JP" altLang="en-US" sz="1800" dirty="0"/>
              <a:t> </a:t>
            </a:r>
            <a:r>
              <a:rPr lang="en-US" altLang="ja-JP" sz="1800" dirty="0"/>
              <a:t>here</a:t>
            </a:r>
            <a:r>
              <a:rPr lang="en-US" altLang="ja-JP" sz="2000" dirty="0"/>
              <a:t>.</a:t>
            </a:r>
          </a:p>
          <a:p>
            <a:r>
              <a:rPr lang="en-US" altLang="ja-JP" sz="1800" dirty="0"/>
              <a:t>Current source</a:t>
            </a:r>
            <a:r>
              <a:rPr lang="ja-JP" altLang="en-US" sz="1800" dirty="0"/>
              <a:t> </a:t>
            </a:r>
            <a:r>
              <a:rPr lang="en-US" altLang="ja-JP" sz="1800" dirty="0"/>
              <a:t>(external)</a:t>
            </a:r>
            <a:br>
              <a:rPr lang="en-US" altLang="ja-JP" sz="1800" dirty="0"/>
            </a:br>
            <a:r>
              <a:rPr lang="en-US" altLang="ja-JP" sz="1800" dirty="0"/>
              <a:t>*</a:t>
            </a:r>
            <a:r>
              <a:rPr lang="ja-JP" altLang="en-US" sz="1800" dirty="0"/>
              <a:t> </a:t>
            </a:r>
            <a:r>
              <a:rPr lang="en-US" altLang="ja-JP" sz="1800" dirty="0"/>
              <a:t>Yutaka</a:t>
            </a:r>
            <a:r>
              <a:rPr lang="ja-JP" altLang="en-US" sz="1800" dirty="0"/>
              <a:t> </a:t>
            </a:r>
            <a:r>
              <a:rPr lang="en-US" altLang="ja-JP" sz="1800" dirty="0"/>
              <a:t>KOTANI</a:t>
            </a:r>
            <a:r>
              <a:rPr lang="ja-JP" altLang="en-US" sz="1800" dirty="0"/>
              <a:t> </a:t>
            </a:r>
            <a:r>
              <a:rPr lang="en-US" altLang="ja-JP" sz="1800" dirty="0"/>
              <a:t>write</a:t>
            </a:r>
            <a:r>
              <a:rPr lang="ja-JP" altLang="en-US" sz="1800" dirty="0"/>
              <a:t> </a:t>
            </a:r>
            <a:r>
              <a:rPr lang="en-US" altLang="ja-JP" sz="1800" dirty="0"/>
              <a:t>here</a:t>
            </a:r>
            <a:r>
              <a:rPr lang="en-US" altLang="ja-JP" dirty="0"/>
              <a:t>.</a:t>
            </a:r>
          </a:p>
          <a:p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041E03B-E9CA-8E54-6869-2C13C578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System overview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4E3170-3347-2FBD-2858-6364B2BF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</a:t>
            </a:fld>
            <a:endParaRPr 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AF6467FA-ED2D-88A9-6FF5-F2714020244F}"/>
              </a:ext>
            </a:extLst>
          </p:cNvPr>
          <p:cNvCxnSpPr>
            <a:cxnSpLocks/>
          </p:cNvCxnSpPr>
          <p:nvPr/>
        </p:nvCxnSpPr>
        <p:spPr>
          <a:xfrm flipV="1">
            <a:off x="4017631" y="2868904"/>
            <a:ext cx="209321" cy="560096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063BE26-7BF4-834A-350A-094B58D0B479}"/>
              </a:ext>
            </a:extLst>
          </p:cNvPr>
          <p:cNvSpPr/>
          <p:nvPr/>
        </p:nvSpPr>
        <p:spPr>
          <a:xfrm>
            <a:off x="1413771" y="2017059"/>
            <a:ext cx="3267429" cy="2117385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kumimoji="1" lang="ja-JP" altLang="en-US" sz="1200" dirty="0" err="1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172E0A5-7667-7CF4-D269-49838A82B50C}"/>
              </a:ext>
            </a:extLst>
          </p:cNvPr>
          <p:cNvSpPr/>
          <p:nvPr/>
        </p:nvSpPr>
        <p:spPr>
          <a:xfrm>
            <a:off x="5159585" y="4462701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AMP &amp;</a:t>
            </a:r>
            <a:br>
              <a:rPr kumimoji="1" lang="en-US" altLang="ja-JP" sz="1200" dirty="0"/>
            </a:br>
            <a:r>
              <a:rPr kumimoji="1" lang="en-US" altLang="ja-JP" sz="1200" dirty="0"/>
              <a:t>Speaker</a:t>
            </a:r>
            <a:endParaRPr kumimoji="1"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59D902C-7F55-DA10-44A1-FD107BFA7996}"/>
              </a:ext>
            </a:extLst>
          </p:cNvPr>
          <p:cNvSpPr/>
          <p:nvPr/>
        </p:nvSpPr>
        <p:spPr>
          <a:xfrm>
            <a:off x="1652796" y="3076378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PFD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AD48B1E-D2AE-33D3-92CC-6305FC3A0EBF}"/>
              </a:ext>
            </a:extLst>
          </p:cNvPr>
          <p:cNvSpPr txBox="1"/>
          <p:nvPr/>
        </p:nvSpPr>
        <p:spPr>
          <a:xfrm>
            <a:off x="2779359" y="2735383"/>
            <a:ext cx="529868" cy="24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PLL</a:t>
            </a:r>
            <a:endParaRPr kumimoji="1" lang="ja-JP" altLang="en-US" sz="1200" b="1" dirty="0" err="1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D6289DE-5FEE-462F-0326-9C74A0BFD950}"/>
              </a:ext>
            </a:extLst>
          </p:cNvPr>
          <p:cNvSpPr/>
          <p:nvPr/>
        </p:nvSpPr>
        <p:spPr>
          <a:xfrm>
            <a:off x="2634072" y="3654688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VCO</a:t>
            </a:r>
            <a:endParaRPr lang="ja-JP" altLang="en-US" sz="1100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7E4FAD5-43A1-45DF-143B-1021BC673273}"/>
              </a:ext>
            </a:extLst>
          </p:cNvPr>
          <p:cNvSpPr/>
          <p:nvPr/>
        </p:nvSpPr>
        <p:spPr>
          <a:xfrm>
            <a:off x="165567" y="3074631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FM radio</a:t>
            </a:r>
            <a:br>
              <a:rPr kumimoji="1" lang="en-US" altLang="ja-JP" sz="1200" dirty="0"/>
            </a:br>
            <a:r>
              <a:rPr kumimoji="1" lang="en-US" altLang="ja-JP" sz="1200" dirty="0"/>
              <a:t>Frontend</a:t>
            </a:r>
            <a:endParaRPr kumimoji="1" lang="ja-JP" altLang="en-US" sz="12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55BC694-426B-1074-F150-D8871AFDB227}"/>
              </a:ext>
            </a:extLst>
          </p:cNvPr>
          <p:cNvSpPr/>
          <p:nvPr/>
        </p:nvSpPr>
        <p:spPr>
          <a:xfrm>
            <a:off x="2627722" y="3076378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Charge</a:t>
            </a:r>
            <a:br>
              <a:rPr kumimoji="1" lang="en-US" altLang="ja-JP" sz="1100" dirty="0"/>
            </a:br>
            <a:r>
              <a:rPr kumimoji="1" lang="en-US" altLang="ja-JP" sz="1100" dirty="0"/>
              <a:t>pump</a:t>
            </a:r>
            <a:endParaRPr kumimoji="1" lang="ja-JP" altLang="en-US" sz="1100" dirty="0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48AB1907-B125-4CA1-B1CA-4EBCEB96C57D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>
            <a:off x="2473237" y="3252689"/>
            <a:ext cx="15448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DF9C59C8-B9F3-E926-6537-9CCF1C39B6B9}"/>
              </a:ext>
            </a:extLst>
          </p:cNvPr>
          <p:cNvCxnSpPr>
            <a:cxnSpLocks/>
            <a:stCxn id="37" idx="3"/>
            <a:endCxn id="44" idx="1"/>
          </p:cNvCxnSpPr>
          <p:nvPr/>
        </p:nvCxnSpPr>
        <p:spPr>
          <a:xfrm>
            <a:off x="3448163" y="3252689"/>
            <a:ext cx="1387522" cy="1283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7FBAA81-D8CE-FFC8-20AA-6824D26DBB6A}"/>
              </a:ext>
            </a:extLst>
          </p:cNvPr>
          <p:cNvSpPr txBox="1"/>
          <p:nvPr/>
        </p:nvSpPr>
        <p:spPr>
          <a:xfrm>
            <a:off x="863865" y="2816392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1" dirty="0">
                <a:highlight>
                  <a:srgbClr val="FFFF00"/>
                </a:highlight>
              </a:rPr>
              <a:t>10.7MHz </a:t>
            </a:r>
            <a:endParaRPr kumimoji="1" lang="ja-JP" altLang="en-US" sz="1200" b="1" dirty="0" err="1">
              <a:highlight>
                <a:srgbClr val="FFFF00"/>
              </a:highlight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C009AF5-DF84-F879-B01D-F5A2A2C4F158}"/>
              </a:ext>
            </a:extLst>
          </p:cNvPr>
          <p:cNvSpPr txBox="1"/>
          <p:nvPr/>
        </p:nvSpPr>
        <p:spPr>
          <a:xfrm>
            <a:off x="4393709" y="4388863"/>
            <a:ext cx="74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/>
              <a:t>Audio Signal</a:t>
            </a:r>
            <a:endParaRPr kumimoji="1" lang="ja-JP" altLang="en-US" sz="1200" b="1" dirty="0" err="1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BF9440D-7F32-4D92-A61F-8742EB9810FD}"/>
              </a:ext>
            </a:extLst>
          </p:cNvPr>
          <p:cNvCxnSpPr>
            <a:cxnSpLocks/>
            <a:stCxn id="36" idx="3"/>
            <a:endCxn id="33" idx="1"/>
          </p:cNvCxnSpPr>
          <p:nvPr/>
        </p:nvCxnSpPr>
        <p:spPr>
          <a:xfrm>
            <a:off x="986008" y="3250942"/>
            <a:ext cx="666788" cy="1747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1F25152D-79CA-B21C-BEE3-2A39CD2C5502}"/>
              </a:ext>
            </a:extLst>
          </p:cNvPr>
          <p:cNvCxnSpPr>
            <a:cxnSpLocks/>
            <a:stCxn id="47" idx="2"/>
            <a:endCxn id="46" idx="0"/>
          </p:cNvCxnSpPr>
          <p:nvPr/>
        </p:nvCxnSpPr>
        <p:spPr>
          <a:xfrm flipH="1">
            <a:off x="4017630" y="4002978"/>
            <a:ext cx="1" cy="45972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2BB433F-7FDF-C6ED-5201-1BBDBD2BFA4C}"/>
              </a:ext>
            </a:extLst>
          </p:cNvPr>
          <p:cNvSpPr/>
          <p:nvPr/>
        </p:nvSpPr>
        <p:spPr>
          <a:xfrm>
            <a:off x="4835685" y="3089216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200" dirty="0"/>
              <a:t>Loop</a:t>
            </a:r>
            <a:br>
              <a:rPr lang="en-US" altLang="ja-JP" sz="1200" dirty="0"/>
            </a:br>
            <a:r>
              <a:rPr lang="en-US" altLang="ja-JP" sz="1200" dirty="0"/>
              <a:t>Filter</a:t>
            </a:r>
            <a:endParaRPr kumimoji="1" lang="ja-JP" altLang="en-US" sz="1200" dirty="0"/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821FEFDF-F732-07C8-57E6-567486E360D2}"/>
              </a:ext>
            </a:extLst>
          </p:cNvPr>
          <p:cNvCxnSpPr>
            <a:cxnSpLocks/>
            <a:stCxn id="35" idx="1"/>
            <a:endCxn id="33" idx="2"/>
          </p:cNvCxnSpPr>
          <p:nvPr/>
        </p:nvCxnSpPr>
        <p:spPr>
          <a:xfrm rot="10800000">
            <a:off x="2063018" y="3429001"/>
            <a:ext cx="571055" cy="401999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B4A0835-C344-923B-E537-06CAA3229BBB}"/>
              </a:ext>
            </a:extLst>
          </p:cNvPr>
          <p:cNvSpPr/>
          <p:nvPr/>
        </p:nvSpPr>
        <p:spPr>
          <a:xfrm>
            <a:off x="3607409" y="4462701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200" dirty="0"/>
              <a:t>LPF</a:t>
            </a:r>
            <a:endParaRPr kumimoji="1" lang="ja-JP" altLang="en-US" sz="1200" dirty="0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72256C4-BEEA-F758-8432-51B38050385B}"/>
              </a:ext>
            </a:extLst>
          </p:cNvPr>
          <p:cNvSpPr/>
          <p:nvPr/>
        </p:nvSpPr>
        <p:spPr>
          <a:xfrm>
            <a:off x="3607410" y="3650356"/>
            <a:ext cx="820441" cy="352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kumimoji="1" lang="en-US" altLang="ja-JP" sz="1100" dirty="0"/>
              <a:t>Buffer</a:t>
            </a:r>
            <a:endParaRPr kumimoji="1" lang="ja-JP" altLang="en-US" sz="1100" dirty="0"/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95B77762-AB14-4F78-FC08-AD86DFE940CE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3454512" y="3826667"/>
            <a:ext cx="152898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67B88ED-AFD4-DBEC-5AC1-86E7F6D524C6}"/>
              </a:ext>
            </a:extLst>
          </p:cNvPr>
          <p:cNvCxnSpPr>
            <a:cxnSpLocks/>
            <a:stCxn id="46" idx="3"/>
            <a:endCxn id="32" idx="1"/>
          </p:cNvCxnSpPr>
          <p:nvPr/>
        </p:nvCxnSpPr>
        <p:spPr>
          <a:xfrm>
            <a:off x="4427850" y="4639012"/>
            <a:ext cx="731735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C9DDB8B5-7441-4367-C821-26AA5C01A81E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044293" y="4007310"/>
            <a:ext cx="0" cy="455391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470575D-2A53-965A-B95C-15D645475C11}"/>
              </a:ext>
            </a:extLst>
          </p:cNvPr>
          <p:cNvSpPr txBox="1"/>
          <p:nvPr/>
        </p:nvSpPr>
        <p:spPr>
          <a:xfrm>
            <a:off x="1535958" y="2107709"/>
            <a:ext cx="3003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 err="1"/>
              <a:t>Mosbius</a:t>
            </a:r>
            <a:r>
              <a:rPr kumimoji="1" lang="en-US" altLang="ja-JP" sz="2000" b="1" dirty="0"/>
              <a:t> chip internal</a:t>
            </a:r>
            <a:endParaRPr kumimoji="1" lang="ja-JP" altLang="en-US" sz="2000" b="1" dirty="0" err="1"/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2A08F7F6-2CE2-E337-E2DD-099E1B2D70CF}"/>
              </a:ext>
            </a:extLst>
          </p:cNvPr>
          <p:cNvCxnSpPr>
            <a:cxnSpLocks/>
            <a:stCxn id="44" idx="2"/>
            <a:endCxn id="47" idx="3"/>
          </p:cNvCxnSpPr>
          <p:nvPr/>
        </p:nvCxnSpPr>
        <p:spPr>
          <a:xfrm rot="5400000">
            <a:off x="4644465" y="3225225"/>
            <a:ext cx="384829" cy="818055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59D4388-B7CC-6811-F4A1-DA1075476B8B}"/>
              </a:ext>
            </a:extLst>
          </p:cNvPr>
          <p:cNvSpPr/>
          <p:nvPr/>
        </p:nvSpPr>
        <p:spPr>
          <a:xfrm>
            <a:off x="2421472" y="4461226"/>
            <a:ext cx="1050385" cy="3412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altLang="ja-JP" sz="1100" dirty="0"/>
              <a:t>Current</a:t>
            </a:r>
            <a:br>
              <a:rPr lang="en-US" altLang="ja-JP" sz="1100" dirty="0"/>
            </a:br>
            <a:r>
              <a:rPr lang="en-US" altLang="ja-JP" sz="1100" dirty="0"/>
              <a:t>Source</a:t>
            </a:r>
            <a:endParaRPr lang="ja-JP" altLang="en-US" sz="1100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C6A79F9-C480-5B6D-31C6-3C28C2C1AD3C}"/>
              </a:ext>
            </a:extLst>
          </p:cNvPr>
          <p:cNvSpPr txBox="1"/>
          <p:nvPr/>
        </p:nvSpPr>
        <p:spPr>
          <a:xfrm>
            <a:off x="4089821" y="4009391"/>
            <a:ext cx="1087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200" b="1" dirty="0">
                <a:highlight>
                  <a:srgbClr val="FFFF00"/>
                </a:highlight>
              </a:rPr>
              <a:t>Up to 15KHz</a:t>
            </a:r>
            <a:r>
              <a:rPr kumimoji="1" lang="en-US" altLang="ja-JP" sz="1200" b="1" dirty="0">
                <a:highlight>
                  <a:srgbClr val="FFFF00"/>
                </a:highlight>
              </a:rPr>
              <a:t> </a:t>
            </a:r>
            <a:endParaRPr kumimoji="1" lang="ja-JP" altLang="en-US" sz="1200" b="1" dirty="0" err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668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AD2C197D-A5BD-B53D-33E3-D1C79C1E83A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26227621"/>
              </p:ext>
            </p:extLst>
          </p:nvPr>
        </p:nvGraphicFramePr>
        <p:xfrm>
          <a:off x="581739" y="1304924"/>
          <a:ext cx="461346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Target Spec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count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37921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altLang="ja-JP" sz="1600" dirty="0"/>
                        <a:t>Estimated Area 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***um2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1022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Vdd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　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3.3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3.6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9918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0.8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2.5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666457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14809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B50BB0EF-A062-6862-8714-56BFB7E4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0040F0-2F09-10D6-D2EA-BA4CFBEC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B3133462-E6C4-3C2B-A539-9291370A5A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4683123"/>
              </p:ext>
            </p:extLst>
          </p:nvPr>
        </p:nvGraphicFramePr>
        <p:xfrm>
          <a:off x="6096000" y="1304924"/>
          <a:ext cx="5416866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62">
                  <a:extLst>
                    <a:ext uri="{9D8B030D-6E8A-4147-A177-3AD203B41FA5}">
                      <a16:colId xmlns:a16="http://schemas.microsoft.com/office/drawing/2014/main" val="2348467210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3856292543"/>
                    </a:ext>
                  </a:extLst>
                </a:gridCol>
                <a:gridCol w="2908299">
                  <a:extLst>
                    <a:ext uri="{9D8B030D-6E8A-4147-A177-3AD203B41FA5}">
                      <a16:colId xmlns:a16="http://schemas.microsoft.com/office/drawing/2014/main" val="184798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name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Notes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09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3.3V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18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GND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58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Reference </a:t>
                      </a:r>
                      <a:r>
                        <a:rPr kumimoji="1" lang="en-US" altLang="ja-JP" sz="1600" dirty="0" err="1"/>
                        <a:t>clk</a:t>
                      </a:r>
                      <a:r>
                        <a:rPr kumimoji="1" lang="en-US" altLang="ja-JP" sz="1600" dirty="0"/>
                        <a:t>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3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36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CEN_FREQ_CUR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Center frequency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59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KVCO_ADJ_CUR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kvco</a:t>
                      </a:r>
                      <a:r>
                        <a:rPr kumimoji="1" lang="en-US" altLang="ja-JP" sz="1600" dirty="0"/>
                        <a:t> adjust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0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MODE_SEL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Hi: Use FM demodulator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Low: Use Clock multiplier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66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LF_IN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External Loop filter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91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LF_OUT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External Loop filter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64135"/>
                  </a:ext>
                </a:extLst>
              </a:tr>
            </a:tbl>
          </a:graphicData>
        </a:graphic>
      </p:graphicFrame>
      <p:graphicFrame>
        <p:nvGraphicFramePr>
          <p:cNvPr id="8" name="コンテンツ プレースホルダー 5">
            <a:extLst>
              <a:ext uri="{FF2B5EF4-FFF2-40B4-BE49-F238E27FC236}">
                <a16:creationId xmlns:a16="http://schemas.microsoft.com/office/drawing/2014/main" id="{A4344AB0-7713-B48D-D723-479B42D08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239457"/>
              </p:ext>
            </p:extLst>
          </p:nvPr>
        </p:nvGraphicFramePr>
        <p:xfrm>
          <a:off x="581739" y="3316604"/>
          <a:ext cx="461346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36074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Divider ratio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1/8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6435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  <p:graphicFrame>
        <p:nvGraphicFramePr>
          <p:cNvPr id="9" name="コンテンツ プレースホルダー 5">
            <a:extLst>
              <a:ext uri="{FF2B5EF4-FFF2-40B4-BE49-F238E27FC236}">
                <a16:creationId xmlns:a16="http://schemas.microsoft.com/office/drawing/2014/main" id="{85130EE0-E336-1F8A-A18F-D11B87AA2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099130"/>
              </p:ext>
            </p:extLst>
          </p:nvPr>
        </p:nvGraphicFramePr>
        <p:xfrm>
          <a:off x="581739" y="4993004"/>
          <a:ext cx="46642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FM demodulator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dmod_out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16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7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FA44D5BC-A23A-00B0-769D-4F747F86B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Block diagram - Clock multiplier mode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F22EC3C8-3313-C1C8-FEC8-5FB20DFC2ED7}"/>
              </a:ext>
            </a:extLst>
          </p:cNvPr>
          <p:cNvGrpSpPr/>
          <p:nvPr/>
        </p:nvGrpSpPr>
        <p:grpSpPr>
          <a:xfrm>
            <a:off x="861794" y="1102169"/>
            <a:ext cx="10993264" cy="5587556"/>
            <a:chOff x="861794" y="1102169"/>
            <a:chExt cx="10993264" cy="5587556"/>
          </a:xfrm>
        </p:grpSpPr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C815B160-C694-B7BB-59D8-80550C14EF43}"/>
                </a:ext>
              </a:extLst>
            </p:cNvPr>
            <p:cNvGrpSpPr/>
            <p:nvPr/>
          </p:nvGrpSpPr>
          <p:grpSpPr>
            <a:xfrm>
              <a:off x="861794" y="1481138"/>
              <a:ext cx="10468412" cy="5208587"/>
              <a:chOff x="1549400" y="1481138"/>
              <a:chExt cx="10468412" cy="5208587"/>
            </a:xfrm>
          </p:grpSpPr>
          <p:sp>
            <p:nvSpPr>
              <p:cNvPr id="4" name="Rectangle 485">
                <a:extLst>
                  <a:ext uri="{FF2B5EF4-FFF2-40B4-BE49-F238E27FC236}">
                    <a16:creationId xmlns:a16="http://schemas.microsoft.com/office/drawing/2014/main" id="{8E17A2C9-8285-541D-A4E7-A6308A77F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125" y="4813300"/>
                <a:ext cx="692150" cy="1020763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5" name="Rectangle 485">
                <a:extLst>
                  <a:ext uri="{FF2B5EF4-FFF2-40B4-BE49-F238E27FC236}">
                    <a16:creationId xmlns:a16="http://schemas.microsoft.com/office/drawing/2014/main" id="{8A19E09C-0CA2-0DF3-C7C7-71571CAA3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1531" y="2066925"/>
                <a:ext cx="2533643" cy="1150938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6" name="Text Box 42">
                <a:extLst>
                  <a:ext uri="{FF2B5EF4-FFF2-40B4-BE49-F238E27FC236}">
                    <a16:creationId xmlns:a16="http://schemas.microsoft.com/office/drawing/2014/main" id="{CAA16CE6-B060-D4A6-8FA5-E675EAF851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4237" y="1727200"/>
                <a:ext cx="628650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VCO</a:t>
                </a:r>
              </a:p>
            </p:txBody>
          </p:sp>
          <p:sp>
            <p:nvSpPr>
              <p:cNvPr id="7" name="Rectangle 485">
                <a:extLst>
                  <a:ext uri="{FF2B5EF4-FFF2-40B4-BE49-F238E27FC236}">
                    <a16:creationId xmlns:a16="http://schemas.microsoft.com/office/drawing/2014/main" id="{C1D72A0E-E3C0-EDFC-9266-40313D46C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54663" y="2079625"/>
                <a:ext cx="2284412" cy="22987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8" name="Rectangle 485">
                <a:extLst>
                  <a:ext uri="{FF2B5EF4-FFF2-40B4-BE49-F238E27FC236}">
                    <a16:creationId xmlns:a16="http://schemas.microsoft.com/office/drawing/2014/main" id="{E2D8B1D2-AE55-C3F9-D9FA-066B54DF4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1675" y="2079625"/>
                <a:ext cx="727075" cy="1150938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sp>
            <p:nvSpPr>
              <p:cNvPr id="9" name="Rectangle 485">
                <a:extLst>
                  <a:ext uri="{FF2B5EF4-FFF2-40B4-BE49-F238E27FC236}">
                    <a16:creationId xmlns:a16="http://schemas.microsoft.com/office/drawing/2014/main" id="{7B8826BA-54FD-E5B5-0104-99B978E01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7463" y="2079625"/>
                <a:ext cx="1598612" cy="1150938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19050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endParaRPr lang="en-US" altLang="en-US" sz="3600" b="1" dirty="0">
                  <a:latin typeface="+mj-lt"/>
                </a:endParaRPr>
              </a:p>
            </p:txBody>
          </p:sp>
          <p:cxnSp>
            <p:nvCxnSpPr>
              <p:cNvPr id="2060" name="Straight Connector 19">
                <a:extLst>
                  <a:ext uri="{FF2B5EF4-FFF2-40B4-BE49-F238E27FC236}">
                    <a16:creationId xmlns:a16="http://schemas.microsoft.com/office/drawing/2014/main" id="{AD6C69FD-6CB3-E42C-FDC4-60527FA5B320}"/>
                  </a:ext>
                </a:extLst>
              </p:cNvPr>
              <p:cNvCxnSpPr>
                <a:cxnSpLocks noChangeShapeType="1"/>
                <a:stCxn id="2141" idx="2"/>
                <a:endCxn id="2136" idx="0"/>
              </p:cNvCxnSpPr>
              <p:nvPr/>
            </p:nvCxnSpPr>
            <p:spPr bwMode="auto">
              <a:xfrm flipV="1">
                <a:off x="4265417" y="2641683"/>
                <a:ext cx="153176" cy="2684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61" name="Line 341">
                <a:extLst>
                  <a:ext uri="{FF2B5EF4-FFF2-40B4-BE49-F238E27FC236}">
                    <a16:creationId xmlns:a16="http://schemas.microsoft.com/office/drawing/2014/main" id="{10EE63AF-E50E-DDC8-4B47-7D2AF6551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3385775" y="2551183"/>
                <a:ext cx="0" cy="18256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62" name="TextBox 2">
                <a:extLst>
                  <a:ext uri="{FF2B5EF4-FFF2-40B4-BE49-F238E27FC236}">
                    <a16:creationId xmlns:a16="http://schemas.microsoft.com/office/drawing/2014/main" id="{5076CE53-5F56-6B10-70C3-14E3A10324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0820" y="2725627"/>
                <a:ext cx="304837" cy="523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/>
                  <a:t>-</a:t>
                </a:r>
              </a:p>
            </p:txBody>
          </p:sp>
          <p:sp>
            <p:nvSpPr>
              <p:cNvPr id="2063" name="Oval 339">
                <a:extLst>
                  <a:ext uri="{FF2B5EF4-FFF2-40B4-BE49-F238E27FC236}">
                    <a16:creationId xmlns:a16="http://schemas.microsoft.com/office/drawing/2014/main" id="{9C4AED35-290D-754D-1380-F5F66BA90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746004" y="2366987"/>
                <a:ext cx="549282" cy="549369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64" name="Line 340">
                <a:extLst>
                  <a:ext uri="{FF2B5EF4-FFF2-40B4-BE49-F238E27FC236}">
                    <a16:creationId xmlns:a16="http://schemas.microsoft.com/office/drawing/2014/main" id="{009F5F9B-984A-2964-D5F4-950D32BA05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2653928" y="2551183"/>
                <a:ext cx="0" cy="18256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65" name="Text Box 346">
                <a:extLst>
                  <a:ext uri="{FF2B5EF4-FFF2-40B4-BE49-F238E27FC236}">
                    <a16:creationId xmlns:a16="http://schemas.microsoft.com/office/drawing/2014/main" id="{B4558F0A-5E98-3B4D-4792-4D07B5214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0800000">
                <a:off x="2793179" y="2339779"/>
                <a:ext cx="450856" cy="6414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/>
                  <a:t>+</a:t>
                </a:r>
              </a:p>
            </p:txBody>
          </p:sp>
          <p:sp>
            <p:nvSpPr>
              <p:cNvPr id="2066" name="Freeform 357">
                <a:extLst>
                  <a:ext uri="{FF2B5EF4-FFF2-40B4-BE49-F238E27FC236}">
                    <a16:creationId xmlns:a16="http://schemas.microsoft.com/office/drawing/2014/main" id="{3DB0B748-2EFF-0DCA-BC6A-4FEC2D98CAF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563439" y="2641672"/>
                <a:ext cx="914412" cy="457279"/>
              </a:xfrm>
              <a:custGeom>
                <a:avLst/>
                <a:gdLst>
                  <a:gd name="T0" fmla="*/ 0 w 576"/>
                  <a:gd name="T1" fmla="*/ 725805000 h 288"/>
                  <a:gd name="T2" fmla="*/ 725805000 w 576"/>
                  <a:gd name="T3" fmla="*/ 0 h 288"/>
                  <a:gd name="T4" fmla="*/ 1451610000 w 576"/>
                  <a:gd name="T5" fmla="*/ 725805000 h 288"/>
                  <a:gd name="T6" fmla="*/ 0 w 576"/>
                  <a:gd name="T7" fmla="*/ 725805000 h 2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lnTo>
                      <a:pt x="288" y="0"/>
                    </a:lnTo>
                    <a:lnTo>
                      <a:pt x="576" y="288"/>
                    </a:lnTo>
                    <a:lnTo>
                      <a:pt x="0" y="288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  <p:sp>
            <p:nvSpPr>
              <p:cNvPr id="2067" name="Freeform 229">
                <a:extLst>
                  <a:ext uri="{FF2B5EF4-FFF2-40B4-BE49-F238E27FC236}">
                    <a16:creationId xmlns:a16="http://schemas.microsoft.com/office/drawing/2014/main" id="{005C19B5-71E8-F21B-6E2C-6AADFE576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5125" y="2474913"/>
                <a:ext cx="534988" cy="330200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27242 w 288"/>
                  <a:gd name="T5" fmla="*/ 330143 h 115"/>
                  <a:gd name="T6" fmla="*/ 534981 w 288"/>
                  <a:gd name="T7" fmla="*/ 163636 h 115"/>
                  <a:gd name="T8" fmla="*/ 427242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600" dirty="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φin</a:t>
                </a:r>
                <a:endParaRPr lang="ja-JP" altLang="en-US" sz="1600" dirty="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68" name="直線矢印コネクタ 17">
                <a:extLst>
                  <a:ext uri="{FF2B5EF4-FFF2-40B4-BE49-F238E27FC236}">
                    <a16:creationId xmlns:a16="http://schemas.microsoft.com/office/drawing/2014/main" id="{4DD0829E-A212-59D1-737D-08AE99C29D94}"/>
                  </a:ext>
                </a:extLst>
              </p:cNvPr>
              <p:cNvCxnSpPr>
                <a:cxnSpLocks noChangeShapeType="1"/>
                <a:stCxn id="2067" idx="3"/>
                <a:endCxn id="2063" idx="6"/>
              </p:cNvCxnSpPr>
              <p:nvPr/>
            </p:nvCxnSpPr>
            <p:spPr bwMode="auto">
              <a:xfrm>
                <a:off x="2170783" y="2638467"/>
                <a:ext cx="575221" cy="3205"/>
              </a:xfrm>
              <a:prstGeom prst="straightConnector1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2069" name="グループ化 18">
                <a:extLst>
                  <a:ext uri="{FF2B5EF4-FFF2-40B4-BE49-F238E27FC236}">
                    <a16:creationId xmlns:a16="http://schemas.microsoft.com/office/drawing/2014/main" id="{E1030C5D-0429-1951-B565-25E7CBE6BD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51005" y="2276004"/>
                <a:ext cx="914412" cy="733551"/>
                <a:chOff x="2744726" y="3298865"/>
                <a:chExt cx="914400" cy="733425"/>
              </a:xfrm>
            </p:grpSpPr>
            <p:grpSp>
              <p:nvGrpSpPr>
                <p:cNvPr id="2138" name="Group 864">
                  <a:extLst>
                    <a:ext uri="{FF2B5EF4-FFF2-40B4-BE49-F238E27FC236}">
                      <a16:creationId xmlns:a16="http://schemas.microsoft.com/office/drawing/2014/main" id="{DD15F0CD-0BD0-84E0-A897-D2C1CD49BB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44726" y="3298865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40" name="Group 60">
                    <a:extLst>
                      <a:ext uri="{FF2B5EF4-FFF2-40B4-BE49-F238E27FC236}">
                        <a16:creationId xmlns:a16="http://schemas.microsoft.com/office/drawing/2014/main" id="{9AF6FFAA-AC91-6FE2-34DA-EE2A61C17A8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42" name="Line 55">
                      <a:extLst>
                        <a:ext uri="{FF2B5EF4-FFF2-40B4-BE49-F238E27FC236}">
                          <a16:creationId xmlns:a16="http://schemas.microsoft.com/office/drawing/2014/main" id="{1F82F3FA-37BC-DDB7-E353-78572118092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43" name="AutoShape 56">
                      <a:extLst>
                        <a:ext uri="{FF2B5EF4-FFF2-40B4-BE49-F238E27FC236}">
                          <a16:creationId xmlns:a16="http://schemas.microsoft.com/office/drawing/2014/main" id="{E7853F79-96A4-148F-98C0-485DF6E3BA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41" name="Freeform 863">
                    <a:extLst>
                      <a:ext uri="{FF2B5EF4-FFF2-40B4-BE49-F238E27FC236}">
                        <a16:creationId xmlns:a16="http://schemas.microsoft.com/office/drawing/2014/main" id="{7840A8EC-08AE-B446-64E8-D86429E776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2139" name="Text Box 42">
                  <a:extLst>
                    <a:ext uri="{FF2B5EF4-FFF2-40B4-BE49-F238E27FC236}">
                      <a16:creationId xmlns:a16="http://schemas.microsoft.com/office/drawing/2014/main" id="{88A34F3A-1D08-18C7-DFC4-A3CE2CC68E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3150" y="3389808"/>
                  <a:ext cx="308094" cy="5231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>
                      <a:cs typeface="Times New Roman" panose="02020603050405020304" pitchFamily="18" charset="0"/>
                    </a:rPr>
                    <a:t>1</a:t>
                  </a:r>
                  <a:br>
                    <a:rPr lang="en-US" altLang="en-US" sz="1400">
                      <a:cs typeface="Times New Roman" panose="02020603050405020304" pitchFamily="18" charset="0"/>
                    </a:rPr>
                  </a:br>
                  <a:r>
                    <a:rPr lang="en-US" altLang="ja-JP" sz="1400">
                      <a:ea typeface="ＭＳ Ｐゴシック" panose="020B0600070205080204" pitchFamily="50" charset="-128"/>
                      <a:cs typeface="Times New Roman" panose="02020603050405020304" pitchFamily="18" charset="0"/>
                    </a:rPr>
                    <a:t>π</a:t>
                  </a:r>
                  <a:endParaRPr lang="en-US" altLang="en-US" sz="1400"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" name="Text Box 42">
                <a:extLst>
                  <a:ext uri="{FF2B5EF4-FFF2-40B4-BE49-F238E27FC236}">
                    <a16:creationId xmlns:a16="http://schemas.microsoft.com/office/drawing/2014/main" id="{BC5A717B-5638-1CC2-112D-322467F3D3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1925" y="2132013"/>
                <a:ext cx="620713" cy="46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Duty</a:t>
                </a:r>
                <a:b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-1</a:t>
                </a:r>
                <a:r>
                  <a:rPr lang="ja-JP" altLang="en-US" sz="1200" dirty="0">
                    <a:latin typeface="+mj-lt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200" dirty="0">
                    <a:latin typeface="+mj-lt"/>
                    <a:cs typeface="Times New Roman" panose="02020603050405020304" pitchFamily="18" charset="0"/>
                  </a:rPr>
                  <a:t>to 1</a:t>
                </a:r>
                <a:endParaRPr lang="en-US" altLang="en-US" sz="1200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71" name="グループ化 20">
                <a:extLst>
                  <a:ext uri="{FF2B5EF4-FFF2-40B4-BE49-F238E27FC236}">
                    <a16:creationId xmlns:a16="http://schemas.microsoft.com/office/drawing/2014/main" id="{4B7B0CD5-E547-15E1-A33A-3A7FB9DE0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8593" y="2274907"/>
                <a:ext cx="914412" cy="733551"/>
                <a:chOff x="3940565" y="3304121"/>
                <a:chExt cx="914400" cy="733425"/>
              </a:xfrm>
            </p:grpSpPr>
            <p:grpSp>
              <p:nvGrpSpPr>
                <p:cNvPr id="2132" name="Group 864">
                  <a:extLst>
                    <a:ext uri="{FF2B5EF4-FFF2-40B4-BE49-F238E27FC236}">
                      <a16:creationId xmlns:a16="http://schemas.microsoft.com/office/drawing/2014/main" id="{66AE247B-2C59-8CB5-722D-58A1F86770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0565" y="3304121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34" name="Group 60">
                    <a:extLst>
                      <a:ext uri="{FF2B5EF4-FFF2-40B4-BE49-F238E27FC236}">
                        <a16:creationId xmlns:a16="http://schemas.microsoft.com/office/drawing/2014/main" id="{924A153C-CE3D-59BF-4EDA-BFAFB5DE33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36" name="Line 55">
                      <a:extLst>
                        <a:ext uri="{FF2B5EF4-FFF2-40B4-BE49-F238E27FC236}">
                          <a16:creationId xmlns:a16="http://schemas.microsoft.com/office/drawing/2014/main" id="{33C1D9D6-BF6C-AE05-B7F1-48F33C2AA90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37" name="AutoShape 56">
                      <a:extLst>
                        <a:ext uri="{FF2B5EF4-FFF2-40B4-BE49-F238E27FC236}">
                          <a16:creationId xmlns:a16="http://schemas.microsoft.com/office/drawing/2014/main" id="{D5DC36E7-C639-4B00-2880-A3AE92C8FB4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35" name="Freeform 863">
                    <a:extLst>
                      <a:ext uri="{FF2B5EF4-FFF2-40B4-BE49-F238E27FC236}">
                        <a16:creationId xmlns:a16="http://schemas.microsoft.com/office/drawing/2014/main" id="{B56AB403-5213-84BF-4554-62097B2898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83" name="Text Box 42">
                  <a:extLst>
                    <a:ext uri="{FF2B5EF4-FFF2-40B4-BE49-F238E27FC236}">
                      <a16:creationId xmlns:a16="http://schemas.microsoft.com/office/drawing/2014/main" id="{12933A38-C536-561A-B63A-AC79A9C8D6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620" y="3496156"/>
                  <a:ext cx="563556" cy="307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Ibias</a:t>
                  </a:r>
                  <a:endParaRPr lang="en-US" altLang="en-US" sz="1600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72" name="グループ化 21">
                <a:extLst>
                  <a:ext uri="{FF2B5EF4-FFF2-40B4-BE49-F238E27FC236}">
                    <a16:creationId xmlns:a16="http://schemas.microsoft.com/office/drawing/2014/main" id="{311B4E66-73D2-3815-9EF9-23784637C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61053" y="2279288"/>
                <a:ext cx="914412" cy="733551"/>
                <a:chOff x="5645385" y="3311463"/>
                <a:chExt cx="914400" cy="733425"/>
              </a:xfrm>
            </p:grpSpPr>
            <p:grpSp>
              <p:nvGrpSpPr>
                <p:cNvPr id="2126" name="Group 864">
                  <a:extLst>
                    <a:ext uri="{FF2B5EF4-FFF2-40B4-BE49-F238E27FC236}">
                      <a16:creationId xmlns:a16="http://schemas.microsoft.com/office/drawing/2014/main" id="{D2D7ADBE-7F64-11D3-0E1B-1869A7F67C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45385" y="3311463"/>
                  <a:ext cx="914400" cy="733425"/>
                  <a:chOff x="1843" y="1698"/>
                  <a:chExt cx="576" cy="462"/>
                </a:xfrm>
              </p:grpSpPr>
              <p:sp>
                <p:nvSpPr>
                  <p:cNvPr id="2131" name="AutoShape 56">
                    <a:extLst>
                      <a:ext uri="{FF2B5EF4-FFF2-40B4-BE49-F238E27FC236}">
                        <a16:creationId xmlns:a16="http://schemas.microsoft.com/office/drawing/2014/main" id="{76262B81-9408-6DAF-65DE-6F2F43FC0E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1912" y="1768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2129" name="Freeform 863">
                    <a:extLst>
                      <a:ext uri="{FF2B5EF4-FFF2-40B4-BE49-F238E27FC236}">
                        <a16:creationId xmlns:a16="http://schemas.microsoft.com/office/drawing/2014/main" id="{63EB9510-DBD9-D012-3884-B11410C3D8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77" name="Text Box 42">
                  <a:extLst>
                    <a:ext uri="{FF2B5EF4-FFF2-40B4-BE49-F238E27FC236}">
                      <a16:creationId xmlns:a16="http://schemas.microsoft.com/office/drawing/2014/main" id="{8596F0C2-7D4E-6B58-1A2B-C1B2771A8F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01731" y="3517636"/>
                  <a:ext cx="584192" cy="307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Kvco</a:t>
                  </a:r>
                </a:p>
              </p:txBody>
            </p:sp>
          </p:grpSp>
          <p:sp>
            <p:nvSpPr>
              <p:cNvPr id="2073" name="AutoShape 56">
                <a:extLst>
                  <a:ext uri="{FF2B5EF4-FFF2-40B4-BE49-F238E27FC236}">
                    <a16:creationId xmlns:a16="http://schemas.microsoft.com/office/drawing/2014/main" id="{1DB70A1E-6239-A314-37E8-3AE362971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5899957" y="5039921"/>
                <a:ext cx="731964" cy="511182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074" name="Freeform 863">
                <a:extLst>
                  <a:ext uri="{FF2B5EF4-FFF2-40B4-BE49-F238E27FC236}">
                    <a16:creationId xmlns:a16="http://schemas.microsoft.com/office/drawing/2014/main" id="{2BC8B516-12BD-7B7F-1DF4-35156AF6B26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26989" y="4930325"/>
                <a:ext cx="914412" cy="731964"/>
              </a:xfrm>
              <a:custGeom>
                <a:avLst/>
                <a:gdLst>
                  <a:gd name="T0" fmla="*/ 0 w 576"/>
                  <a:gd name="T1" fmla="*/ 582157285 h 461"/>
                  <a:gd name="T2" fmla="*/ 289818763 w 576"/>
                  <a:gd name="T3" fmla="*/ 1161793619 h 461"/>
                  <a:gd name="T4" fmla="*/ 1451610000 w 576"/>
                  <a:gd name="T5" fmla="*/ 582157285 h 461"/>
                  <a:gd name="T6" fmla="*/ 289818763 w 576"/>
                  <a:gd name="T7" fmla="*/ 0 h 461"/>
                  <a:gd name="T8" fmla="*/ 0 w 576"/>
                  <a:gd name="T9" fmla="*/ 582157285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  <p:sp>
            <p:nvSpPr>
              <p:cNvPr id="25" name="Text Box 42">
                <a:extLst>
                  <a:ext uri="{FF2B5EF4-FFF2-40B4-BE49-F238E27FC236}">
                    <a16:creationId xmlns:a16="http://schemas.microsoft.com/office/drawing/2014/main" id="{9322B0D9-9823-755C-1593-2EA8DAC30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flipH="1">
                <a:off x="6040438" y="5121275"/>
                <a:ext cx="503237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1/N</a:t>
                </a:r>
              </a:p>
            </p:txBody>
          </p:sp>
          <p:sp>
            <p:nvSpPr>
              <p:cNvPr id="26" name="Text Box 42">
                <a:extLst>
                  <a:ext uri="{FF2B5EF4-FFF2-40B4-BE49-F238E27FC236}">
                    <a16:creationId xmlns:a16="http://schemas.microsoft.com/office/drawing/2014/main" id="{EE8BD7B9-A198-89E8-06B7-1A70712BF4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1025" y="1727200"/>
                <a:ext cx="593725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PFD</a:t>
                </a:r>
              </a:p>
            </p:txBody>
          </p:sp>
          <p:sp>
            <p:nvSpPr>
              <p:cNvPr id="27" name="Text Box 42">
                <a:extLst>
                  <a:ext uri="{FF2B5EF4-FFF2-40B4-BE49-F238E27FC236}">
                    <a16:creationId xmlns:a16="http://schemas.microsoft.com/office/drawing/2014/main" id="{97AC6FBE-19CB-8A7F-485C-8B22C35DC6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4363" y="1481138"/>
                <a:ext cx="889000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Charge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 pump</a:t>
                </a:r>
              </a:p>
            </p:txBody>
          </p:sp>
          <p:sp>
            <p:nvSpPr>
              <p:cNvPr id="2078" name="Text Box 42">
                <a:extLst>
                  <a:ext uri="{FF2B5EF4-FFF2-40B4-BE49-F238E27FC236}">
                    <a16:creationId xmlns:a16="http://schemas.microsoft.com/office/drawing/2014/main" id="{095282BE-7303-D867-606B-E3D3C0561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1938" y="4919663"/>
                <a:ext cx="579437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ja-JP" sz="16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φdiv</a:t>
                </a:r>
                <a:endParaRPr lang="en-US" altLang="en-US" sz="160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79" name="グループ化 28">
                <a:extLst>
                  <a:ext uri="{FF2B5EF4-FFF2-40B4-BE49-F238E27FC236}">
                    <a16:creationId xmlns:a16="http://schemas.microsoft.com/office/drawing/2014/main" id="{3FD83F4C-7D4A-588E-BB19-B361C97BE7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81220" y="2274907"/>
                <a:ext cx="914412" cy="733551"/>
                <a:chOff x="3940565" y="3304121"/>
                <a:chExt cx="914400" cy="733425"/>
              </a:xfrm>
            </p:grpSpPr>
            <p:grpSp>
              <p:nvGrpSpPr>
                <p:cNvPr id="2120" name="Group 864">
                  <a:extLst>
                    <a:ext uri="{FF2B5EF4-FFF2-40B4-BE49-F238E27FC236}">
                      <a16:creationId xmlns:a16="http://schemas.microsoft.com/office/drawing/2014/main" id="{D598AC6B-3D9D-B0BB-2BB1-F8E985D7A4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0565" y="3304121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22" name="Group 60">
                    <a:extLst>
                      <a:ext uri="{FF2B5EF4-FFF2-40B4-BE49-F238E27FC236}">
                        <a16:creationId xmlns:a16="http://schemas.microsoft.com/office/drawing/2014/main" id="{4847312B-726A-3948-300A-33649BCC384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24" name="Line 55">
                      <a:extLst>
                        <a:ext uri="{FF2B5EF4-FFF2-40B4-BE49-F238E27FC236}">
                          <a16:creationId xmlns:a16="http://schemas.microsoft.com/office/drawing/2014/main" id="{B22FED08-BCFB-D1AA-311A-2D9C659448E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25" name="AutoShape 56">
                      <a:extLst>
                        <a:ext uri="{FF2B5EF4-FFF2-40B4-BE49-F238E27FC236}">
                          <a16:creationId xmlns:a16="http://schemas.microsoft.com/office/drawing/2014/main" id="{81F14F2C-AA53-9029-90DA-14EE109A7B9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23" name="Freeform 863">
                    <a:extLst>
                      <a:ext uri="{FF2B5EF4-FFF2-40B4-BE49-F238E27FC236}">
                        <a16:creationId xmlns:a16="http://schemas.microsoft.com/office/drawing/2014/main" id="{F1AC7044-6D34-C6FD-61BF-3D3F7C1922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71" name="Text Box 42">
                  <a:extLst>
                    <a:ext uri="{FF2B5EF4-FFF2-40B4-BE49-F238E27FC236}">
                      <a16:creationId xmlns:a16="http://schemas.microsoft.com/office/drawing/2014/main" id="{AB24A54C-B7D1-F82C-E57A-37A6C5F2C3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7218" y="3540598"/>
                  <a:ext cx="414333" cy="3079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R1</a:t>
                  </a:r>
                </a:p>
              </p:txBody>
            </p:sp>
          </p:grpSp>
          <p:cxnSp>
            <p:nvCxnSpPr>
              <p:cNvPr id="2080" name="直線コネクタ 29">
                <a:extLst>
                  <a:ext uri="{FF2B5EF4-FFF2-40B4-BE49-F238E27FC236}">
                    <a16:creationId xmlns:a16="http://schemas.microsoft.com/office/drawing/2014/main" id="{8F05E8E9-A8CA-2F75-FB95-6227636564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3625336" y="2641398"/>
                <a:ext cx="311031" cy="649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1" name="Text Box 42">
                <a:extLst>
                  <a:ext uri="{FF2B5EF4-FFF2-40B4-BE49-F238E27FC236}">
                    <a16:creationId xmlns:a16="http://schemas.microsoft.com/office/drawing/2014/main" id="{42FE1077-E908-2C6E-0D43-4194FDDC30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1938" y="5867400"/>
                <a:ext cx="1909762" cy="338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b="1" dirty="0">
                    <a:latin typeface="+mj-lt"/>
                    <a:cs typeface="Times New Roman" panose="02020603050405020304" pitchFamily="18" charset="0"/>
                  </a:rPr>
                  <a:t>Divider</a:t>
                </a:r>
              </a:p>
            </p:txBody>
          </p:sp>
          <p:sp>
            <p:nvSpPr>
              <p:cNvPr id="32" name="Text Box 42">
                <a:extLst>
                  <a:ext uri="{FF2B5EF4-FFF2-40B4-BE49-F238E27FC236}">
                    <a16:creationId xmlns:a16="http://schemas.microsoft.com/office/drawing/2014/main" id="{DC3AF292-FE88-6F03-7F2D-E3C7BFC9D0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9338" y="2132013"/>
                <a:ext cx="1096962" cy="46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Current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-Ibias to Ibias</a:t>
                </a:r>
              </a:p>
            </p:txBody>
          </p:sp>
          <p:sp>
            <p:nvSpPr>
              <p:cNvPr id="33" name="Text Box 42">
                <a:extLst>
                  <a:ext uri="{FF2B5EF4-FFF2-40B4-BE49-F238E27FC236}">
                    <a16:creationId xmlns:a16="http://schemas.microsoft.com/office/drawing/2014/main" id="{92D6ACD3-3E2A-7F51-EF2A-C3EDF595F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7103" y="2132013"/>
                <a:ext cx="695325" cy="4619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Voltage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Vin</a:t>
                </a:r>
              </a:p>
            </p:txBody>
          </p:sp>
          <p:sp>
            <p:nvSpPr>
              <p:cNvPr id="34" name="Text Box 42">
                <a:extLst>
                  <a:ext uri="{FF2B5EF4-FFF2-40B4-BE49-F238E27FC236}">
                    <a16:creationId xmlns:a16="http://schemas.microsoft.com/office/drawing/2014/main" id="{0E8F96F1-86A5-BCE0-8E1A-73DC6AEE5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963" y="2290763"/>
                <a:ext cx="619125" cy="277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Phase</a:t>
                </a:r>
              </a:p>
            </p:txBody>
          </p:sp>
          <p:sp>
            <p:nvSpPr>
              <p:cNvPr id="35" name="Text Box 42">
                <a:extLst>
                  <a:ext uri="{FF2B5EF4-FFF2-40B4-BE49-F238E27FC236}">
                    <a16:creationId xmlns:a16="http://schemas.microsoft.com/office/drawing/2014/main" id="{E2A3A6DC-6B87-32A3-5189-5095CBCFB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9400" y="1865313"/>
                <a:ext cx="593725" cy="585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REF</a:t>
                </a:r>
                <a:b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CLK</a:t>
                </a:r>
              </a:p>
            </p:txBody>
          </p:sp>
          <p:cxnSp>
            <p:nvCxnSpPr>
              <p:cNvPr id="2086" name="Straight Connector 19">
                <a:extLst>
                  <a:ext uri="{FF2B5EF4-FFF2-40B4-BE49-F238E27FC236}">
                    <a16:creationId xmlns:a16="http://schemas.microsoft.com/office/drawing/2014/main" id="{E86027D7-8018-5D20-C427-9726E5493AB6}"/>
                  </a:ext>
                </a:extLst>
              </p:cNvPr>
              <p:cNvCxnSpPr>
                <a:cxnSpLocks noChangeShapeType="1"/>
                <a:stCxn id="2136" idx="1"/>
                <a:endCxn id="2124" idx="0"/>
              </p:cNvCxnSpPr>
              <p:nvPr/>
            </p:nvCxnSpPr>
            <p:spPr bwMode="auto">
              <a:xfrm flipV="1">
                <a:off x="5333004" y="2641683"/>
                <a:ext cx="348215" cy="1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87" name="Rectangle 485">
                <a:extLst>
                  <a:ext uri="{FF2B5EF4-FFF2-40B4-BE49-F238E27FC236}">
                    <a16:creationId xmlns:a16="http://schemas.microsoft.com/office/drawing/2014/main" id="{1C64E21D-4F04-95E2-7332-634BF630B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5632" y="3442727"/>
                <a:ext cx="655930" cy="731638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ja-JP" altLang="en-US" sz="3600" b="1">
                    <a:ea typeface="ＭＳ Ｐゴシック" panose="020B0600070205080204" pitchFamily="50" charset="-128"/>
                  </a:rPr>
                  <a:t>∫</a:t>
                </a:r>
                <a:endParaRPr lang="en-US" altLang="en-US" sz="3600" b="1"/>
              </a:p>
            </p:txBody>
          </p:sp>
          <p:grpSp>
            <p:nvGrpSpPr>
              <p:cNvPr id="2088" name="グループ化 37">
                <a:extLst>
                  <a:ext uri="{FF2B5EF4-FFF2-40B4-BE49-F238E27FC236}">
                    <a16:creationId xmlns:a16="http://schemas.microsoft.com/office/drawing/2014/main" id="{A7C4DA6E-8512-A126-E6C6-78AE671C0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81220" y="3425778"/>
                <a:ext cx="914412" cy="733551"/>
                <a:chOff x="3940565" y="3304121"/>
                <a:chExt cx="914400" cy="733425"/>
              </a:xfrm>
            </p:grpSpPr>
            <p:grpSp>
              <p:nvGrpSpPr>
                <p:cNvPr id="2114" name="Group 864">
                  <a:extLst>
                    <a:ext uri="{FF2B5EF4-FFF2-40B4-BE49-F238E27FC236}">
                      <a16:creationId xmlns:a16="http://schemas.microsoft.com/office/drawing/2014/main" id="{22F4ED51-4CEE-5847-BF22-755C697FA1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0565" y="3304121"/>
                  <a:ext cx="914400" cy="733425"/>
                  <a:chOff x="1843" y="1698"/>
                  <a:chExt cx="576" cy="462"/>
                </a:xfrm>
              </p:grpSpPr>
              <p:grpSp>
                <p:nvGrpSpPr>
                  <p:cNvPr id="2116" name="Group 60">
                    <a:extLst>
                      <a:ext uri="{FF2B5EF4-FFF2-40B4-BE49-F238E27FC236}">
                        <a16:creationId xmlns:a16="http://schemas.microsoft.com/office/drawing/2014/main" id="{DCBED046-C4C6-E651-71C8-CF8490E353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43" y="1698"/>
                    <a:ext cx="576" cy="461"/>
                    <a:chOff x="3456" y="3427"/>
                    <a:chExt cx="576" cy="461"/>
                  </a:xfrm>
                </p:grpSpPr>
                <p:sp>
                  <p:nvSpPr>
                    <p:cNvPr id="2118" name="Line 55">
                      <a:extLst>
                        <a:ext uri="{FF2B5EF4-FFF2-40B4-BE49-F238E27FC236}">
                          <a16:creationId xmlns:a16="http://schemas.microsoft.com/office/drawing/2014/main" id="{3D4005F3-A692-A1FA-ED78-E5F68A9217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3658"/>
                      <a:ext cx="576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ja-JP" altLang="en-US"/>
                    </a:p>
                  </p:txBody>
                </p:sp>
                <p:sp>
                  <p:nvSpPr>
                    <p:cNvPr id="2119" name="AutoShape 56">
                      <a:extLst>
                        <a:ext uri="{FF2B5EF4-FFF2-40B4-BE49-F238E27FC236}">
                          <a16:creationId xmlns:a16="http://schemas.microsoft.com/office/drawing/2014/main" id="{A2FF0125-7B08-69F3-8244-2BD030A008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5400000">
                      <a:off x="3525" y="3497"/>
                      <a:ext cx="461" cy="32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10800000" vert="eaVert"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117" name="Freeform 863">
                    <a:extLst>
                      <a:ext uri="{FF2B5EF4-FFF2-40B4-BE49-F238E27FC236}">
                        <a16:creationId xmlns:a16="http://schemas.microsoft.com/office/drawing/2014/main" id="{43790C2B-A416-2FBD-4A95-F52149B759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43" y="1699"/>
                    <a:ext cx="576" cy="461"/>
                  </a:xfrm>
                  <a:custGeom>
                    <a:avLst/>
                    <a:gdLst>
                      <a:gd name="T0" fmla="*/ 0 w 576"/>
                      <a:gd name="T1" fmla="*/ 231 h 461"/>
                      <a:gd name="T2" fmla="*/ 115 w 576"/>
                      <a:gd name="T3" fmla="*/ 461 h 461"/>
                      <a:gd name="T4" fmla="*/ 576 w 576"/>
                      <a:gd name="T5" fmla="*/ 231 h 461"/>
                      <a:gd name="T6" fmla="*/ 115 w 576"/>
                      <a:gd name="T7" fmla="*/ 0 h 461"/>
                      <a:gd name="T8" fmla="*/ 0 w 576"/>
                      <a:gd name="T9" fmla="*/ 231 h 46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576" h="461">
                        <a:moveTo>
                          <a:pt x="0" y="231"/>
                        </a:moveTo>
                        <a:lnTo>
                          <a:pt x="115" y="461"/>
                        </a:lnTo>
                        <a:lnTo>
                          <a:pt x="576" y="231"/>
                        </a:lnTo>
                        <a:lnTo>
                          <a:pt x="115" y="0"/>
                        </a:lnTo>
                        <a:lnTo>
                          <a:pt x="0" y="231"/>
                        </a:lnTo>
                        <a:close/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ja-JP" altLang="en-US"/>
                  </a:p>
                </p:txBody>
              </p:sp>
            </p:grpSp>
            <p:sp>
              <p:nvSpPr>
                <p:cNvPr id="65" name="Text Box 42">
                  <a:extLst>
                    <a:ext uri="{FF2B5EF4-FFF2-40B4-BE49-F238E27FC236}">
                      <a16:creationId xmlns:a16="http://schemas.microsoft.com/office/drawing/2014/main" id="{D82BB238-2AFA-A1CB-EC39-AB820D92D2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7056" y="3404164"/>
                  <a:ext cx="414332" cy="522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1</a:t>
                  </a:r>
                  <a:b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</a:br>
                  <a:r>
                    <a:rPr lang="en-US" altLang="en-US" sz="1400" dirty="0">
                      <a:latin typeface="+mj-lt"/>
                      <a:cs typeface="Times New Roman" panose="02020603050405020304" pitchFamily="18" charset="0"/>
                    </a:rPr>
                    <a:t>C1</a:t>
                  </a:r>
                </a:p>
              </p:txBody>
            </p:sp>
          </p:grpSp>
          <p:cxnSp>
            <p:nvCxnSpPr>
              <p:cNvPr id="2089" name="直線コネクタ 38">
                <a:extLst>
                  <a:ext uri="{FF2B5EF4-FFF2-40B4-BE49-F238E27FC236}">
                    <a16:creationId xmlns:a16="http://schemas.microsoft.com/office/drawing/2014/main" id="{2ABC1D6A-69D0-F7C9-A3DE-502EFFE09E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953602" y="3793191"/>
                <a:ext cx="311031" cy="649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2107" name="Group 347">
                <a:extLst>
                  <a:ext uri="{FF2B5EF4-FFF2-40B4-BE49-F238E27FC236}">
                    <a16:creationId xmlns:a16="http://schemas.microsoft.com/office/drawing/2014/main" id="{FDFBC058-7D32-5602-E12E-81926A681E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6971057" y="2332056"/>
                <a:ext cx="1908200" cy="766895"/>
                <a:chOff x="526" y="3600"/>
                <a:chExt cx="1202" cy="483"/>
              </a:xfrm>
            </p:grpSpPr>
            <p:sp>
              <p:nvSpPr>
                <p:cNvPr id="2109" name="Oval 339">
                  <a:extLst>
                    <a:ext uri="{FF2B5EF4-FFF2-40B4-BE49-F238E27FC236}">
                      <a16:creationId xmlns:a16="http://schemas.microsoft.com/office/drawing/2014/main" id="{9FC5059F-67A5-32FE-8C4F-7C015D0E9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7" y="3715"/>
                  <a:ext cx="346" cy="34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110" name="Line 340">
                  <a:extLst>
                    <a:ext uri="{FF2B5EF4-FFF2-40B4-BE49-F238E27FC236}">
                      <a16:creationId xmlns:a16="http://schemas.microsoft.com/office/drawing/2014/main" id="{4D731D38-743D-58DE-3A38-6727EF22E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671" y="383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1" name="Line 341">
                  <a:extLst>
                    <a:ext uri="{FF2B5EF4-FFF2-40B4-BE49-F238E27FC236}">
                      <a16:creationId xmlns:a16="http://schemas.microsoft.com/office/drawing/2014/main" id="{B48E7FD4-A4FF-36BA-F904-24C588D353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897" y="3517"/>
                  <a:ext cx="0" cy="74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2" name="Line 345">
                  <a:extLst>
                    <a:ext uri="{FF2B5EF4-FFF2-40B4-BE49-F238E27FC236}">
                      <a16:creationId xmlns:a16="http://schemas.microsoft.com/office/drawing/2014/main" id="{0C4346CB-AFFE-A19E-FBCB-85266EC383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360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3" name="Text Box 346">
                  <a:extLst>
                    <a:ext uri="{FF2B5EF4-FFF2-40B4-BE49-F238E27FC236}">
                      <a16:creationId xmlns:a16="http://schemas.microsoft.com/office/drawing/2014/main" id="{3B52BEE9-C212-35A0-4A78-BCCA5B2B59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6" y="3679"/>
                  <a:ext cx="28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3600" dirty="0"/>
                    <a:t>+</a:t>
                  </a:r>
                </a:p>
              </p:txBody>
            </p:sp>
          </p:grpSp>
          <p:cxnSp>
            <p:nvCxnSpPr>
              <p:cNvPr id="2091" name="Straight Connector 19">
                <a:extLst>
                  <a:ext uri="{FF2B5EF4-FFF2-40B4-BE49-F238E27FC236}">
                    <a16:creationId xmlns:a16="http://schemas.microsoft.com/office/drawing/2014/main" id="{55F4B4BD-7F11-16BD-2838-BB13E9A184D3}"/>
                  </a:ext>
                </a:extLst>
              </p:cNvPr>
              <p:cNvCxnSpPr>
                <a:cxnSpLocks noChangeShapeType="1"/>
                <a:stCxn id="2124" idx="1"/>
                <a:endCxn id="2110" idx="0"/>
              </p:cNvCxnSpPr>
              <p:nvPr/>
            </p:nvCxnSpPr>
            <p:spPr bwMode="auto">
              <a:xfrm>
                <a:off x="6595632" y="2641684"/>
                <a:ext cx="374633" cy="782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92" name="コネクタ: カギ線 41">
                <a:extLst>
                  <a:ext uri="{FF2B5EF4-FFF2-40B4-BE49-F238E27FC236}">
                    <a16:creationId xmlns:a16="http://schemas.microsoft.com/office/drawing/2014/main" id="{2DE95C86-4381-3EBC-80F4-CFBA86C278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5072364" y="3190832"/>
                <a:ext cx="1156414" cy="61297"/>
              </a:xfrm>
              <a:prstGeom prst="bentConnector3">
                <a:avLst>
                  <a:gd name="adj1" fmla="val 99431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93" name="Oval 813">
                <a:extLst>
                  <a:ext uri="{FF2B5EF4-FFF2-40B4-BE49-F238E27FC236}">
                    <a16:creationId xmlns:a16="http://schemas.microsoft.com/office/drawing/2014/main" id="{C31C7174-255B-9822-C81F-925770F54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7386" y="2596420"/>
                <a:ext cx="92076" cy="9209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094" name="コネクタ: カギ線 43">
                <a:extLst>
                  <a:ext uri="{FF2B5EF4-FFF2-40B4-BE49-F238E27FC236}">
                    <a16:creationId xmlns:a16="http://schemas.microsoft.com/office/drawing/2014/main" id="{1212C3C3-BB31-27C2-CEBB-2654F65332F4}"/>
                  </a:ext>
                </a:extLst>
              </p:cNvPr>
              <p:cNvCxnSpPr>
                <a:cxnSpLocks noChangeShapeType="1"/>
                <a:stCxn id="2087" idx="3"/>
                <a:endCxn id="2112" idx="0"/>
              </p:cNvCxnSpPr>
              <p:nvPr/>
            </p:nvCxnSpPr>
            <p:spPr bwMode="auto">
              <a:xfrm flipV="1">
                <a:off x="7251562" y="3098951"/>
                <a:ext cx="176701" cy="709595"/>
              </a:xfrm>
              <a:prstGeom prst="bentConnector4">
                <a:avLst>
                  <a:gd name="adj1" fmla="val 50000"/>
                  <a:gd name="adj2" fmla="val 5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95" name="Rectangle 485">
                <a:extLst>
                  <a:ext uri="{FF2B5EF4-FFF2-40B4-BE49-F238E27FC236}">
                    <a16:creationId xmlns:a16="http://schemas.microsoft.com/office/drawing/2014/main" id="{1373646D-F928-41D8-4C17-3352898B9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1613" y="2285460"/>
                <a:ext cx="655930" cy="731638"/>
              </a:xfrm>
              <a:prstGeom prst="rect">
                <a:avLst/>
              </a:prstGeom>
              <a:solidFill>
                <a:srgbClr val="FFFFFF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ja-JP" altLang="en-US" sz="3600" b="1">
                    <a:ea typeface="ＭＳ Ｐゴシック" panose="020B0600070205080204" pitchFamily="50" charset="-128"/>
                  </a:rPr>
                  <a:t>∫</a:t>
                </a:r>
                <a:endParaRPr lang="en-US" altLang="en-US" sz="3600" b="1"/>
              </a:p>
            </p:txBody>
          </p:sp>
          <p:sp>
            <p:nvSpPr>
              <p:cNvPr id="2097" name="Freeform 229">
                <a:extLst>
                  <a:ext uri="{FF2B5EF4-FFF2-40B4-BE49-F238E27FC236}">
                    <a16:creationId xmlns:a16="http://schemas.microsoft.com/office/drawing/2014/main" id="{4A47AA80-D5DA-A595-10FF-10508DB805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24087" y="2493963"/>
                <a:ext cx="593725" cy="330200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74149 w 288"/>
                  <a:gd name="T5" fmla="*/ 330143 h 115"/>
                  <a:gd name="T6" fmla="*/ 593717 w 288"/>
                  <a:gd name="T7" fmla="*/ 163636 h 115"/>
                  <a:gd name="T8" fmla="*/ 474149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600" dirty="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φout</a:t>
                </a:r>
                <a:endParaRPr lang="ja-JP" altLang="en-US" sz="1600" dirty="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Text Box 42">
                <a:extLst>
                  <a:ext uri="{FF2B5EF4-FFF2-40B4-BE49-F238E27FC236}">
                    <a16:creationId xmlns:a16="http://schemas.microsoft.com/office/drawing/2014/main" id="{AFAA21A1-C870-C7A7-0E56-6F0B0D3BDB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54237" y="1865313"/>
                <a:ext cx="617537" cy="585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OUT</a:t>
                </a:r>
                <a:b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CLK</a:t>
                </a:r>
              </a:p>
            </p:txBody>
          </p:sp>
          <p:cxnSp>
            <p:nvCxnSpPr>
              <p:cNvPr id="2099" name="Straight Connector 19">
                <a:extLst>
                  <a:ext uri="{FF2B5EF4-FFF2-40B4-BE49-F238E27FC236}">
                    <a16:creationId xmlns:a16="http://schemas.microsoft.com/office/drawing/2014/main" id="{2599558C-E056-7514-A6CB-8374855A1F36}"/>
                  </a:ext>
                </a:extLst>
              </p:cNvPr>
              <p:cNvCxnSpPr>
                <a:cxnSpLocks noChangeShapeType="1"/>
                <a:stCxn id="2095" idx="3"/>
              </p:cNvCxnSpPr>
              <p:nvPr/>
            </p:nvCxnSpPr>
            <p:spPr bwMode="auto">
              <a:xfrm>
                <a:off x="11077543" y="2651279"/>
                <a:ext cx="346619" cy="0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01" name="コネクタ: カギ線 50">
                <a:extLst>
                  <a:ext uri="{FF2B5EF4-FFF2-40B4-BE49-F238E27FC236}">
                    <a16:creationId xmlns:a16="http://schemas.microsoft.com/office/drawing/2014/main" id="{ECFF6B71-4A89-3F09-5E14-AC2C140B240A}"/>
                  </a:ext>
                </a:extLst>
              </p:cNvPr>
              <p:cNvCxnSpPr>
                <a:cxnSpLocks noChangeShapeType="1"/>
                <a:stCxn id="2073" idx="0"/>
                <a:endCxn id="2063" idx="0"/>
              </p:cNvCxnSpPr>
              <p:nvPr/>
            </p:nvCxnSpPr>
            <p:spPr bwMode="auto">
              <a:xfrm rot="10800000">
                <a:off x="3020646" y="2916358"/>
                <a:ext cx="2989703" cy="2379156"/>
              </a:xfrm>
              <a:prstGeom prst="bentConnector2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02" name="Oval 813">
                <a:extLst>
                  <a:ext uri="{FF2B5EF4-FFF2-40B4-BE49-F238E27FC236}">
                    <a16:creationId xmlns:a16="http://schemas.microsoft.com/office/drawing/2014/main" id="{D65DA188-D4F3-004B-81AC-450D87F50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61162" y="2596420"/>
                <a:ext cx="92076" cy="9209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cxnSp>
            <p:nvCxnSpPr>
              <p:cNvPr id="2103" name="コネクタ: カギ線 52">
                <a:extLst>
                  <a:ext uri="{FF2B5EF4-FFF2-40B4-BE49-F238E27FC236}">
                    <a16:creationId xmlns:a16="http://schemas.microsoft.com/office/drawing/2014/main" id="{BBC719D7-A219-7D15-6418-6ED584D18E60}"/>
                  </a:ext>
                </a:extLst>
              </p:cNvPr>
              <p:cNvCxnSpPr>
                <a:cxnSpLocks noChangeShapeType="1"/>
                <a:stCxn id="2102" idx="4"/>
                <a:endCxn id="25" idx="1"/>
              </p:cNvCxnSpPr>
              <p:nvPr/>
            </p:nvCxnSpPr>
            <p:spPr bwMode="auto">
              <a:xfrm rot="5400000">
                <a:off x="7624522" y="1607665"/>
                <a:ext cx="2601833" cy="4763525"/>
              </a:xfrm>
              <a:prstGeom prst="bentConnector2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04" name="Text Box 42">
                <a:extLst>
                  <a:ext uri="{FF2B5EF4-FFF2-40B4-BE49-F238E27FC236}">
                    <a16:creationId xmlns:a16="http://schemas.microsoft.com/office/drawing/2014/main" id="{1D596FD9-BAE3-1926-629F-110F6ED83E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8938" y="4919663"/>
                <a:ext cx="603250" cy="338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ja-JP" sz="16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φout</a:t>
                </a:r>
                <a:endParaRPr lang="en-US" altLang="en-US" sz="1600">
                  <a:ea typeface="ＭＳ Ｐゴシック" panose="020B0600070205080204" pitchFamily="50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 Box 42">
                <a:extLst>
                  <a:ext uri="{FF2B5EF4-FFF2-40B4-BE49-F238E27FC236}">
                    <a16:creationId xmlns:a16="http://schemas.microsoft.com/office/drawing/2014/main" id="{9F2A3D7D-C880-596D-CE50-FEA9D90DC0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3363" y="4722813"/>
                <a:ext cx="619125" cy="277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Phase</a:t>
                </a:r>
              </a:p>
            </p:txBody>
          </p:sp>
          <p:sp>
            <p:nvSpPr>
              <p:cNvPr id="56" name="Text Box 42">
                <a:extLst>
                  <a:ext uri="{FF2B5EF4-FFF2-40B4-BE49-F238E27FC236}">
                    <a16:creationId xmlns:a16="http://schemas.microsoft.com/office/drawing/2014/main" id="{449C37DB-D00F-54C5-0174-11487EF0D2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1475" y="4722813"/>
                <a:ext cx="619125" cy="277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Phase</a:t>
                </a:r>
              </a:p>
            </p:txBody>
          </p:sp>
          <p:sp>
            <p:nvSpPr>
              <p:cNvPr id="2052" name="テキスト ボックス 96">
                <a:extLst>
                  <a:ext uri="{FF2B5EF4-FFF2-40B4-BE49-F238E27FC236}">
                    <a16:creationId xmlns:a16="http://schemas.microsoft.com/office/drawing/2014/main" id="{75B00967-D72D-67E9-36CC-6F8CB1A7F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4038" y="5673725"/>
                <a:ext cx="2540000" cy="1016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000">
                    <a:ea typeface="ＭＳ Ｐゴシック" panose="020B0600070205080204" pitchFamily="50" charset="-128"/>
                  </a:rPr>
                  <a:t>Transfer function: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r>
                  <a:rPr lang="en-US" altLang="ja-JP" sz="1000">
                    <a:ea typeface="ＭＳ Ｐゴシック" panose="020B0600070205080204" pitchFamily="50" charset="-128"/>
                  </a:rPr>
                  <a:t>           Ibias                          Kvco 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000">
                    <a:ea typeface="ＭＳ Ｐゴシック" panose="020B0600070205080204" pitchFamily="50" charset="-128"/>
                  </a:rPr>
                  <a:t>G(s) = ------- * (R1+1/C1s) * ------- 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r>
                  <a:rPr lang="en-US" altLang="ja-JP" sz="1000">
                    <a:ea typeface="ＭＳ Ｐゴシック" panose="020B0600070205080204" pitchFamily="50" charset="-128"/>
                  </a:rPr>
                  <a:t>             </a:t>
                </a:r>
                <a:r>
                  <a:rPr lang="ja-JP" altLang="en-US" sz="1000">
                    <a:ea typeface="ＭＳ Ｐゴシック" panose="020B0600070205080204" pitchFamily="50" charset="-128"/>
                  </a:rPr>
                  <a:t> </a:t>
                </a:r>
                <a:r>
                  <a:rPr lang="en-US" altLang="ja-JP" sz="1000">
                    <a:ea typeface="ＭＳ Ｐゴシック" panose="020B0600070205080204" pitchFamily="50" charset="-128"/>
                  </a:rPr>
                  <a:t>π                               s    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r>
                  <a:rPr lang="en-US" altLang="ja-JP" sz="1000">
                    <a:ea typeface="ＭＳ Ｐゴシック" panose="020B0600070205080204" pitchFamily="50" charset="-128"/>
                  </a:rPr>
                  <a:t>H(s) = 1 / N</a:t>
                </a:r>
                <a:br>
                  <a:rPr lang="en-US" altLang="ja-JP" sz="1000">
                    <a:ea typeface="ＭＳ Ｐゴシック" panose="020B0600070205080204" pitchFamily="50" charset="-128"/>
                  </a:rPr>
                </a:br>
                <a:endParaRPr lang="en-US" altLang="ja-JP" sz="1000">
                  <a:ea typeface="ＭＳ Ｐゴシック" panose="020B0600070205080204" pitchFamily="50" charset="-128"/>
                </a:endParaRPr>
              </a:p>
            </p:txBody>
          </p:sp>
          <p:sp>
            <p:nvSpPr>
              <p:cNvPr id="2053" name="テキスト ボックス 97">
                <a:extLst>
                  <a:ext uri="{FF2B5EF4-FFF2-40B4-BE49-F238E27FC236}">
                    <a16:creationId xmlns:a16="http://schemas.microsoft.com/office/drawing/2014/main" id="{F68AD9E1-B739-6CD5-CC71-DE9ED93C2A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8375" y="5424489"/>
                <a:ext cx="2541588" cy="116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Closed loop: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                    G(s)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W(s) = ----------------------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            1 + G(s) H(s)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Open loop:</a:t>
                </a:r>
                <a:br>
                  <a:rPr lang="en-US" altLang="ja-JP" sz="1000" dirty="0">
                    <a:ea typeface="ＭＳ Ｐゴシック" panose="020B0600070205080204" pitchFamily="50" charset="-128"/>
                  </a:rPr>
                </a:br>
                <a:r>
                  <a:rPr lang="en-US" altLang="ja-JP" sz="1000" dirty="0">
                    <a:ea typeface="ＭＳ Ｐゴシック" panose="020B0600070205080204" pitchFamily="50" charset="-128"/>
                  </a:rPr>
                  <a:t>G(s) H(s)</a:t>
                </a:r>
              </a:p>
            </p:txBody>
          </p:sp>
          <p:grpSp>
            <p:nvGrpSpPr>
              <p:cNvPr id="13" name="Group 358">
                <a:extLst>
                  <a:ext uri="{FF2B5EF4-FFF2-40B4-BE49-F238E27FC236}">
                    <a16:creationId xmlns:a16="http://schemas.microsoft.com/office/drawing/2014/main" id="{6C100654-9E8A-F35B-451F-4BD6D89B3B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9388137" y="2331344"/>
                <a:ext cx="1033476" cy="766895"/>
                <a:chOff x="749" y="3427"/>
                <a:chExt cx="651" cy="483"/>
              </a:xfrm>
            </p:grpSpPr>
            <p:grpSp>
              <p:nvGrpSpPr>
                <p:cNvPr id="14" name="Group 347">
                  <a:extLst>
                    <a:ext uri="{FF2B5EF4-FFF2-40B4-BE49-F238E27FC236}">
                      <a16:creationId xmlns:a16="http://schemas.microsoft.com/office/drawing/2014/main" id="{7B3F075F-0EDE-E39E-AF87-54D7061457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49" y="3427"/>
                  <a:ext cx="651" cy="483"/>
                  <a:chOff x="1152" y="3600"/>
                  <a:chExt cx="651" cy="483"/>
                </a:xfrm>
              </p:grpSpPr>
              <p:sp>
                <p:nvSpPr>
                  <p:cNvPr id="16" name="Oval 339">
                    <a:extLst>
                      <a:ext uri="{FF2B5EF4-FFF2-40B4-BE49-F238E27FC236}">
                        <a16:creationId xmlns:a16="http://schemas.microsoft.com/office/drawing/2014/main" id="{57180DA4-76E2-5B60-8FF2-9735DB668E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67" y="3715"/>
                    <a:ext cx="346" cy="34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17" name="Line 340">
                    <a:extLst>
                      <a:ext uri="{FF2B5EF4-FFF2-40B4-BE49-F238E27FC236}">
                        <a16:creationId xmlns:a16="http://schemas.microsoft.com/office/drawing/2014/main" id="{2AB5895E-675A-9E25-2458-73DF255539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707" y="3791"/>
                    <a:ext cx="3" cy="18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18" name="Line 341">
                    <a:extLst>
                      <a:ext uri="{FF2B5EF4-FFF2-40B4-BE49-F238E27FC236}">
                        <a16:creationId xmlns:a16="http://schemas.microsoft.com/office/drawing/2014/main" id="{AB9E3616-7E0B-2C37-DB9F-1DEF18D003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210" y="3830"/>
                    <a:ext cx="0" cy="11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19" name="Line 345">
                    <a:extLst>
                      <a:ext uri="{FF2B5EF4-FFF2-40B4-BE49-F238E27FC236}">
                        <a16:creationId xmlns:a16="http://schemas.microsoft.com/office/drawing/2014/main" id="{8E32BB5F-7694-7011-E1D4-BDC3DBA74C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40" y="3600"/>
                    <a:ext cx="0" cy="11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" name="Text Box 346">
                    <a:extLst>
                      <a:ext uri="{FF2B5EF4-FFF2-40B4-BE49-F238E27FC236}">
                        <a16:creationId xmlns:a16="http://schemas.microsoft.com/office/drawing/2014/main" id="{820823EE-D360-9B5D-F193-F1A52207EAF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96" y="3679"/>
                    <a:ext cx="284" cy="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en-US" sz="3600" dirty="0"/>
                      <a:t>+</a:t>
                    </a:r>
                  </a:p>
                </p:txBody>
              </p:sp>
            </p:grpSp>
            <p:sp>
              <p:nvSpPr>
                <p:cNvPr id="15" name="Freeform 357">
                  <a:extLst>
                    <a:ext uri="{FF2B5EF4-FFF2-40B4-BE49-F238E27FC236}">
                      <a16:creationId xmlns:a16="http://schemas.microsoft.com/office/drawing/2014/main" id="{08F84CFF-0C17-275B-81BB-6B7722197A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9" y="3427"/>
                  <a:ext cx="576" cy="288"/>
                </a:xfrm>
                <a:custGeom>
                  <a:avLst/>
                  <a:gdLst>
                    <a:gd name="T0" fmla="*/ 0 w 576"/>
                    <a:gd name="T1" fmla="*/ 288 h 288"/>
                    <a:gd name="T2" fmla="*/ 288 w 576"/>
                    <a:gd name="T3" fmla="*/ 0 h 288"/>
                    <a:gd name="T4" fmla="*/ 576 w 576"/>
                    <a:gd name="T5" fmla="*/ 288 h 288"/>
                    <a:gd name="T6" fmla="*/ 0 w 576"/>
                    <a:gd name="T7" fmla="*/ 288 h 28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6" h="288">
                      <a:moveTo>
                        <a:pt x="0" y="288"/>
                      </a:moveTo>
                      <a:lnTo>
                        <a:pt x="288" y="0"/>
                      </a:lnTo>
                      <a:lnTo>
                        <a:pt x="576" y="288"/>
                      </a:lnTo>
                      <a:lnTo>
                        <a:pt x="0" y="288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42" name="Freeform 229">
                <a:extLst>
                  <a:ext uri="{FF2B5EF4-FFF2-40B4-BE49-F238E27FC236}">
                    <a16:creationId xmlns:a16="http://schemas.microsoft.com/office/drawing/2014/main" id="{2C2E46B2-CA27-EDCD-87A4-257B7CC08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7506" y="3947577"/>
                <a:ext cx="1799790" cy="320762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27242 w 288"/>
                  <a:gd name="T5" fmla="*/ 330143 h 115"/>
                  <a:gd name="T6" fmla="*/ 534981 w 288"/>
                  <a:gd name="T7" fmla="*/ 163636 h 115"/>
                  <a:gd name="T8" fmla="*/ 427242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en-US" altLang="ja-JP" sz="1200" dirty="0"/>
                  <a:t>CEN_FREQ_CUR</a:t>
                </a:r>
                <a:endParaRPr lang="ja-JP" altLang="en-US" sz="1200" dirty="0"/>
              </a:p>
            </p:txBody>
          </p:sp>
          <p:sp>
            <p:nvSpPr>
              <p:cNvPr id="43" name="Text Box 42">
                <a:extLst>
                  <a:ext uri="{FF2B5EF4-FFF2-40B4-BE49-F238E27FC236}">
                    <a16:creationId xmlns:a16="http://schemas.microsoft.com/office/drawing/2014/main" id="{16152BB4-77AE-C69D-0237-92C57EC9A8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00620" y="4249250"/>
                <a:ext cx="1878088" cy="3385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600" dirty="0">
                    <a:latin typeface="+mj-lt"/>
                    <a:cs typeface="Times New Roman" panose="02020603050405020304" pitchFamily="18" charset="0"/>
                  </a:rPr>
                  <a:t>Center Frequency</a:t>
                </a:r>
              </a:p>
            </p:txBody>
          </p:sp>
          <p:cxnSp>
            <p:nvCxnSpPr>
              <p:cNvPr id="44" name="コネクタ: カギ線 43">
                <a:extLst>
                  <a:ext uri="{FF2B5EF4-FFF2-40B4-BE49-F238E27FC236}">
                    <a16:creationId xmlns:a16="http://schemas.microsoft.com/office/drawing/2014/main" id="{AC8BB5DE-C13C-CAC1-E720-96082730F9DE}"/>
                  </a:ext>
                </a:extLst>
              </p:cNvPr>
              <p:cNvCxnSpPr>
                <a:cxnSpLocks noChangeShapeType="1"/>
                <a:endCxn id="21" idx="0"/>
              </p:cNvCxnSpPr>
              <p:nvPr/>
            </p:nvCxnSpPr>
            <p:spPr bwMode="auto">
              <a:xfrm rot="5400000" flipH="1" flipV="1">
                <a:off x="9272603" y="3410958"/>
                <a:ext cx="1133131" cy="256827"/>
              </a:xfrm>
              <a:prstGeom prst="bentConnector3">
                <a:avLst>
                  <a:gd name="adj1" fmla="val -537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7" name="Text Box 42">
                <a:extLst>
                  <a:ext uri="{FF2B5EF4-FFF2-40B4-BE49-F238E27FC236}">
                    <a16:creationId xmlns:a16="http://schemas.microsoft.com/office/drawing/2014/main" id="{9618E49F-DFBA-7A01-0BFC-3704F3884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64407" y="3867590"/>
                <a:ext cx="696024" cy="276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200" dirty="0">
                    <a:latin typeface="+mj-lt"/>
                    <a:cs typeface="Times New Roman" panose="02020603050405020304" pitchFamily="18" charset="0"/>
                  </a:rPr>
                  <a:t>Current</a:t>
                </a:r>
              </a:p>
            </p:txBody>
          </p:sp>
          <p:sp>
            <p:nvSpPr>
              <p:cNvPr id="36" name="Freeform 229">
                <a:extLst>
                  <a:ext uri="{FF2B5EF4-FFF2-40B4-BE49-F238E27FC236}">
                    <a16:creationId xmlns:a16="http://schemas.microsoft.com/office/drawing/2014/main" id="{7BABE83E-DDF9-24B2-0E4E-E77F40C6E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5110" y="3225948"/>
                <a:ext cx="1449701" cy="320762"/>
              </a:xfrm>
              <a:custGeom>
                <a:avLst/>
                <a:gdLst>
                  <a:gd name="T0" fmla="*/ 0 w 288"/>
                  <a:gd name="T1" fmla="*/ 0 h 115"/>
                  <a:gd name="T2" fmla="*/ 0 w 288"/>
                  <a:gd name="T3" fmla="*/ 330143 h 115"/>
                  <a:gd name="T4" fmla="*/ 427242 w 288"/>
                  <a:gd name="T5" fmla="*/ 330143 h 115"/>
                  <a:gd name="T6" fmla="*/ 534981 w 288"/>
                  <a:gd name="T7" fmla="*/ 163636 h 115"/>
                  <a:gd name="T8" fmla="*/ 427242 w 288"/>
                  <a:gd name="T9" fmla="*/ 0 h 115"/>
                  <a:gd name="T10" fmla="*/ 0 w 288"/>
                  <a:gd name="T11" fmla="*/ 0 h 1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8"/>
                  <a:gd name="T19" fmla="*/ 0 h 115"/>
                  <a:gd name="T20" fmla="*/ 288 w 288"/>
                  <a:gd name="T21" fmla="*/ 115 h 11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8" h="115">
                    <a:moveTo>
                      <a:pt x="0" y="0"/>
                    </a:moveTo>
                    <a:lnTo>
                      <a:pt x="0" y="115"/>
                    </a:lnTo>
                    <a:lnTo>
                      <a:pt x="230" y="115"/>
                    </a:lnTo>
                    <a:lnTo>
                      <a:pt x="288" y="57"/>
                    </a:lnTo>
                    <a:lnTo>
                      <a:pt x="2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None/>
                </a:pPr>
                <a:r>
                  <a:rPr lang="en-US" altLang="ja-JP" sz="1200" dirty="0"/>
                  <a:t>KVCO_ADJ_CUR</a:t>
                </a:r>
                <a:endParaRPr lang="ja-JP" altLang="en-US" sz="1200" dirty="0"/>
              </a:p>
            </p:txBody>
          </p:sp>
          <p:cxnSp>
            <p:nvCxnSpPr>
              <p:cNvPr id="37" name="コネクタ: カギ線 36">
                <a:extLst>
                  <a:ext uri="{FF2B5EF4-FFF2-40B4-BE49-F238E27FC236}">
                    <a16:creationId xmlns:a16="http://schemas.microsoft.com/office/drawing/2014/main" id="{918DD746-2B1A-1E68-EC99-DE62798AD601}"/>
                  </a:ext>
                </a:extLst>
              </p:cNvPr>
              <p:cNvCxnSpPr>
                <a:cxnSpLocks noChangeShapeType="1"/>
                <a:endCxn id="2131" idx="5"/>
              </p:cNvCxnSpPr>
              <p:nvPr/>
            </p:nvCxnSpPr>
            <p:spPr bwMode="auto">
              <a:xfrm rot="5400000" flipH="1" flipV="1">
                <a:off x="8799671" y="3041399"/>
                <a:ext cx="549188" cy="124501"/>
              </a:xfrm>
              <a:prstGeom prst="bentConnector3">
                <a:avLst>
                  <a:gd name="adj1" fmla="val 926"/>
                </a:avLst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" name="Text Box 42">
              <a:extLst>
                <a:ext uri="{FF2B5EF4-FFF2-40B4-BE49-F238E27FC236}">
                  <a16:creationId xmlns:a16="http://schemas.microsoft.com/office/drawing/2014/main" id="{F5941204-089A-A56C-E020-C4841B263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2965" y="1485418"/>
              <a:ext cx="2124075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External</a:t>
              </a:r>
              <a:b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Loop filter</a:t>
              </a:r>
            </a:p>
          </p:txBody>
        </p:sp>
        <p:sp>
          <p:nvSpPr>
            <p:cNvPr id="3" name="Freeform 229">
              <a:extLst>
                <a:ext uri="{FF2B5EF4-FFF2-40B4-BE49-F238E27FC236}">
                  <a16:creationId xmlns:a16="http://schemas.microsoft.com/office/drawing/2014/main" id="{B62C2CB5-497F-B1FA-E618-D754E8F68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5632" y="1443188"/>
              <a:ext cx="1189426" cy="329671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 err="1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lf_out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0" name="コネクタ: カギ線 52">
              <a:extLst>
                <a:ext uri="{FF2B5EF4-FFF2-40B4-BE49-F238E27FC236}">
                  <a16:creationId xmlns:a16="http://schemas.microsoft.com/office/drawing/2014/main" id="{67E4A9B9-5959-8762-CF18-6FEDB09399F8}"/>
                </a:ext>
              </a:extLst>
            </p:cNvPr>
            <p:cNvCxnSpPr>
              <a:cxnSpLocks noChangeShapeType="1"/>
              <a:stCxn id="2109" idx="2"/>
            </p:cNvCxnSpPr>
            <p:nvPr/>
          </p:nvCxnSpPr>
          <p:spPr bwMode="auto">
            <a:xfrm flipV="1">
              <a:off x="7015298" y="1596646"/>
              <a:ext cx="3650336" cy="1045026"/>
            </a:xfrm>
            <a:prstGeom prst="bentConnector3">
              <a:avLst>
                <a:gd name="adj1" fmla="val 23139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296DC4E9-62A9-01A9-4DBD-025F9ACB4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144" y="1102169"/>
              <a:ext cx="1189426" cy="329671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 err="1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lf_in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2" name="コネクタ: カギ線 52">
              <a:extLst>
                <a:ext uri="{FF2B5EF4-FFF2-40B4-BE49-F238E27FC236}">
                  <a16:creationId xmlns:a16="http://schemas.microsoft.com/office/drawing/2014/main" id="{9AE36EE0-A044-0A1C-99DC-5761940BFEB4}"/>
                </a:ext>
              </a:extLst>
            </p:cNvPr>
            <p:cNvCxnSpPr>
              <a:cxnSpLocks noChangeShapeType="1"/>
              <a:stCxn id="2093" idx="0"/>
            </p:cNvCxnSpPr>
            <p:nvPr/>
          </p:nvCxnSpPr>
          <p:spPr bwMode="auto">
            <a:xfrm rot="16200000" flipV="1">
              <a:off x="3785648" y="1446249"/>
              <a:ext cx="1304194" cy="996147"/>
            </a:xfrm>
            <a:prstGeom prst="bentConnector3">
              <a:avLst>
                <a:gd name="adj1" fmla="val 99839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86F3ADA7-A74A-26C3-ECD0-6399FEE9B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9342" y="3554795"/>
              <a:ext cx="187808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Adjust KVCO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E9803B7-0D0E-9E36-1923-A7FE580C5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FC7399-CB85-C9D2-2D0B-B2986A588E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B1E9490-F400-9637-14FA-434DD77B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- PFD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807B41-2D14-8F8B-EC22-3F5A7CB1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10A3-A238-A842-0B5D-8C985AD5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DD572FC-F41D-DFFD-8E71-011AC797F6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BF490-51EF-2355-475A-908940AF4C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B5D2190-9F7C-7198-26E2-B0CC1DB0B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Charge pump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0D239E-E978-4796-F793-F9F196BF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5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E007-B68B-CA2E-AC70-7D42644A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3108764-805F-AE0A-8521-C9499C3064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DBC802-2ED9-24FE-C9EB-FA59F2AF1D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056BA17-497C-6904-E36F-332C2C22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Loop filter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A0CF7C-F8A7-EF76-EB78-A6883157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177D7-3453-BB02-08DF-88480E5F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EE93A40-ABAD-3C96-3D75-4A3B1846F8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/>
              <a:t>Schematic </a:t>
            </a:r>
            <a:r>
              <a:rPr lang="en-US" altLang="ja-JP" sz="2000" dirty="0"/>
              <a:t>(Buffer, Inverter respectively)</a:t>
            </a:r>
            <a:endParaRPr kumimoji="1" lang="ja-JP" altLang="en-US" sz="2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8D8DF-45D5-881D-30C5-4E70881EF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84314"/>
            <a:ext cx="5720400" cy="3222440"/>
          </a:xfrm>
        </p:spPr>
        <p:txBody>
          <a:bodyPr/>
          <a:lstStyle/>
          <a:p>
            <a:r>
              <a:rPr kumimoji="1" lang="en-US" altLang="ja-JP" dirty="0"/>
              <a:t>Purpose</a:t>
            </a:r>
          </a:p>
          <a:p>
            <a:pPr marL="0" indent="0">
              <a:buNone/>
            </a:pPr>
            <a:r>
              <a:rPr kumimoji="1" lang="en-US" altLang="ja-JP" sz="2000" dirty="0"/>
              <a:t>To copy the voltage from the loop filter to the </a:t>
            </a:r>
            <a:r>
              <a:rPr lang="en-US" altLang="ja-JP" sz="2000" dirty="0"/>
              <a:t>VCO. This ensures a reliable input</a:t>
            </a: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 3V pulse signal (for simulation)</a:t>
            </a:r>
          </a:p>
          <a:p>
            <a:pPr lvl="1"/>
            <a:r>
              <a:rPr lang="en-US" altLang="ja-JP" dirty="0"/>
              <a:t>Output 3V pulse signal identical to input (simulation result)</a:t>
            </a:r>
          </a:p>
          <a:p>
            <a:pPr lvl="1"/>
            <a:r>
              <a:rPr lang="en-US" altLang="ja-JP" dirty="0"/>
              <a:t>3V VDD input</a:t>
            </a:r>
            <a:br>
              <a:rPr lang="en-US" altLang="ja-JP" dirty="0"/>
            </a:br>
            <a:endParaRPr lang="en-US" altLang="ja-JP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0BD4C15-4796-CD58-9CA1-F0654E55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Buffer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B1BD7C-52A9-E54F-B4D2-AE134842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F3BBC-9476-947A-2D32-C84F37490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59" y="4544793"/>
            <a:ext cx="3855247" cy="2078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88A987-2638-3245-FFB2-144DB9B86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60" y="2151246"/>
            <a:ext cx="3855247" cy="217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3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F8F60F-012C-FF5B-70E4-E36BCB582D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Output of the Buffer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6B5AC-8873-A5EC-0F72-E040CF49CD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 Of Inverter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9B843D-D93F-74C6-5D24-8F1EFAD3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of Buffer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9A912-F1FC-9E6A-7693-8137776B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649E49-C250-161B-CAAB-370D69F75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4" y="2196537"/>
            <a:ext cx="5636310" cy="3251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BA02B4-4BD0-9BF7-6706-9E911A464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347" y="2196537"/>
            <a:ext cx="5785147" cy="325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1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6BE9-D095-5726-2CB3-83E71842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00EDF11-0C90-A14A-8AD0-ECDFE0BCE6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/>
              <a:t>Schematic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A311BD-1FCB-7205-9FC3-A24D28DB0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205181"/>
            <a:ext cx="5719763" cy="4608512"/>
          </a:xfrm>
        </p:spPr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r>
              <a:rPr kumimoji="1" lang="en-US" altLang="ja-JP" sz="2000" dirty="0"/>
              <a:t>For removing high frequency components from buffer for smoother output</a:t>
            </a:r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Buffered signal containing high frequency and noise</a:t>
            </a:r>
          </a:p>
          <a:p>
            <a:pPr lvl="1"/>
            <a:r>
              <a:rPr lang="en-US" altLang="ja-JP" dirty="0"/>
              <a:t>Clean filtered signal</a:t>
            </a:r>
          </a:p>
          <a:p>
            <a:r>
              <a:rPr kumimoji="1" lang="en-US" altLang="ja-JP" dirty="0"/>
              <a:t>Important design decisions</a:t>
            </a:r>
            <a:r>
              <a:rPr lang="en-US" altLang="ja-JP" dirty="0"/>
              <a:t>: </a:t>
            </a:r>
            <a:r>
              <a:rPr kumimoji="1" lang="en-US" altLang="ja-JP" sz="2000" dirty="0"/>
              <a:t>Selection of R and C values of reasonable size for filter design</a:t>
            </a:r>
            <a:endParaRPr kumimoji="1" lang="en-US" altLang="ja-JP" dirty="0"/>
          </a:p>
          <a:p>
            <a:r>
              <a:rPr lang="en-US" altLang="ja-JP" dirty="0"/>
              <a:t>Interface to other blocks </a:t>
            </a:r>
            <a:r>
              <a:rPr lang="en-US" altLang="ja-JP" sz="2000" dirty="0"/>
              <a:t>Input from buffer 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02145F4-77CC-55F5-5035-97676683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LPF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46007E-3D5A-9B33-CF02-9BAED5CD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414C4F-CA14-D5D4-B529-53734882F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" y="2197283"/>
            <a:ext cx="5528913" cy="324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6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BC15A3-5C40-4A0E-31C4-7E89826141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Resistor Selection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E6730-BDA3-319C-FF5C-79863E18D9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Capacitor Selection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36BE8A-DB58-33A7-5DC3-F1668F65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Resistor and Capacitor Value Selection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FEDA9-42CC-EBED-8E34-056465E7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13</a:t>
            </a:fld>
            <a:endParaRPr lang="en-US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92E5A5B2-34D5-8222-7370-851EDC2AD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09" y="2544685"/>
            <a:ext cx="5719762" cy="2710175"/>
          </a:xfrm>
          <a:prstGeom prst="rect">
            <a:avLst/>
          </a:prstGeom>
        </p:spPr>
      </p:pic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2A713811-B7A1-DFB0-E219-BB9C69CDA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44685"/>
            <a:ext cx="5719763" cy="27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97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1263A0-383F-5404-701D-A455E98617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01" y="1210693"/>
            <a:ext cx="11234660" cy="5317789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ADA1B5-6C24-00A3-E197-E0E926AB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LPF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DC6E1-D40C-4F7B-69FB-C4B574E1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37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062BC-830E-8332-9627-F80B2FA6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D59903E-3090-5260-F905-9317C16E6E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3E3343-6712-EFAB-C18C-853E5BB6EE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5B834AA-E875-84F2-8257-C7CB5486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VCO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24F35E-28EE-D238-D6C1-A7F48C7C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5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AEEB-2A01-631D-241E-B34AC878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A0FD65A-79E4-EBA3-171C-C730D8C2D1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/>
              <a:t>Put your schematic diagram here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8DB109-409C-96FA-44A3-4DA39F8215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Input and Output</a:t>
            </a:r>
          </a:p>
          <a:p>
            <a:pPr lvl="1"/>
            <a:r>
              <a:rPr lang="en-US" altLang="ja-JP" dirty="0"/>
              <a:t>Input</a:t>
            </a:r>
          </a:p>
          <a:p>
            <a:pPr lvl="1"/>
            <a:r>
              <a:rPr lang="en-US" altLang="ja-JP" dirty="0"/>
              <a:t>output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en-US" altLang="ja-JP" dirty="0"/>
              <a:t>Important design decisions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lang="en-US" altLang="ja-JP" dirty="0"/>
              <a:t>Interface to other blocks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F0A7ED0-139C-54A8-C1EB-17136BAC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Schematic summary – current source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098A68-F906-F24B-CC15-4D4FEA67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31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F22BFC1-AE56-F2AA-743A-9C4FA79C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VCO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EE652C-3F55-30C2-F90A-F9B10F2E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17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51A972C-06B3-9665-DE5C-607F8E6C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7EEF1EC-833E-1F67-863C-11EA9404C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25D7373D-58B1-D5FB-08F5-D68F9AA952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0407F2A-9F85-D674-8592-FDA3A351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39" y="1444253"/>
            <a:ext cx="6764383" cy="517926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D82EB0D-B392-ACB4-5237-9DD8C701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08" y="1455056"/>
            <a:ext cx="3249978" cy="516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04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35E838A-36D1-B492-8FC8-ED802AF3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CB53DB-E021-6375-C179-8A41BBF3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PFD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A7860-127B-7A8F-4476-1C7B8CCE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18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D935FED-1BA6-6745-C818-3303F87D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8" y="1482048"/>
            <a:ext cx="10677236" cy="484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35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5C6C-3673-54FA-DB75-B75E0609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53C78BD-2718-C9E7-2FCC-9C9588F7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OPAMP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9BDC49-EFBF-54E2-96E3-2075999E8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19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9C5475A-C160-EB3B-1FAA-C97FA7225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07E8F833-5CD1-136B-4733-E11984F16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F704E6C-3B87-C841-CD7D-E3A5D3FA92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40F37FD-1B7D-8EE9-6493-A8745907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07" y="1426586"/>
            <a:ext cx="10157836" cy="462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12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29BF-756A-7F12-5C2E-820B7CB9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10A1146-6309-2022-D60E-92992031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Beta multiplier reference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C33605-6418-71A7-8DD2-B754AC6F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20</a:t>
            </a:fld>
            <a:endParaRPr 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055655D-48B3-9C7D-86F6-B4F6CAB33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78B725C9-9453-9FBD-8679-F1049D044D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9B690031-D6FF-EC2A-6A6B-576A090DB1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C1DE339-3A10-112B-C42D-FD87B710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5" y="1891098"/>
            <a:ext cx="4867708" cy="429594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7C84B1C-9ACC-9D66-8CD9-D429D6C33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68" y="1899948"/>
            <a:ext cx="5588093" cy="42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93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162B3FE-41CF-1328-04BE-A0EEDC5F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414803D-E310-A41A-C609-5A30833C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Layout  (T.B.D)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0371B8-4BD7-094C-E931-E9F81166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26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45D3-9CD9-DA7E-868E-08E84B9F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AE48628F-5E89-B609-EA68-A96C097475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0038" y="1577149"/>
            <a:ext cx="5719762" cy="4422839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96751A-E278-B477-6AB7-56DD301F66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to left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25AFB360-1AB0-7D41-53E4-318837E1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Evaluation - VCO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4D9A16-2665-2A38-CB3F-B2995BFC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22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532C649-7DC1-1B13-94C3-63DA037607F5}"/>
              </a:ext>
            </a:extLst>
          </p:cNvPr>
          <p:cNvSpPr txBox="1"/>
          <p:nvPr/>
        </p:nvSpPr>
        <p:spPr>
          <a:xfrm>
            <a:off x="2512291" y="4927708"/>
            <a:ext cx="3731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y =  9.04099539e+15 * x^2-4.55009586e</a:t>
            </a:r>
            <a:br>
              <a:rPr lang="en-US" altLang="ja-JP" sz="1400" dirty="0"/>
            </a:br>
            <a:r>
              <a:rPr lang="en-US" altLang="ja-JP" sz="1400" dirty="0"/>
              <a:t>+11 * x + 2.24254037e+07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13050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CF2A-7FBC-C952-12BC-0F025F24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3E15046-66AA-FC43-584A-5C772E3322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C4BD6D-EA90-E20C-9C47-E0732A371C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to left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ACD9F9A-3907-BC87-B810-905B823A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Evaluation - OPAMP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0A4E47-D9D0-332F-A763-40DAAA1C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23</a:t>
            </a:fld>
            <a:endParaRPr 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D184B53-A5A4-7E43-28E0-8A0DAFB9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0" y="1486918"/>
            <a:ext cx="7185317" cy="388676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CAEE455-B8AA-9C44-FA9A-68D4270D7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589" y="1484313"/>
            <a:ext cx="4115374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54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63C1-1ECE-083E-60B6-716C9CE2E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DC061668-6390-79AD-24E1-DA1074D9E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Application block diagram – FM radio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sp>
        <p:nvSpPr>
          <p:cNvPr id="5" name="Rectangle 485">
            <a:extLst>
              <a:ext uri="{FF2B5EF4-FFF2-40B4-BE49-F238E27FC236}">
                <a16:creationId xmlns:a16="http://schemas.microsoft.com/office/drawing/2014/main" id="{106A00F3-0978-A6D8-E5C8-54DC2C276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4145" y="2066925"/>
            <a:ext cx="2533643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6" name="Text Box 42">
            <a:extLst>
              <a:ext uri="{FF2B5EF4-FFF2-40B4-BE49-F238E27FC236}">
                <a16:creationId xmlns:a16="http://schemas.microsoft.com/office/drawing/2014/main" id="{C5D06E3B-6C34-2548-D794-6051082D7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6851" y="1727200"/>
            <a:ext cx="628650" cy="338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VCO</a:t>
            </a:r>
          </a:p>
        </p:txBody>
      </p:sp>
      <p:sp>
        <p:nvSpPr>
          <p:cNvPr id="7" name="Rectangle 485">
            <a:extLst>
              <a:ext uri="{FF2B5EF4-FFF2-40B4-BE49-F238E27FC236}">
                <a16:creationId xmlns:a16="http://schemas.microsoft.com/office/drawing/2014/main" id="{C3F54B7B-B636-E33C-15A7-AC889D354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277" y="2079625"/>
            <a:ext cx="2284412" cy="22987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8" name="Rectangle 485">
            <a:extLst>
              <a:ext uri="{FF2B5EF4-FFF2-40B4-BE49-F238E27FC236}">
                <a16:creationId xmlns:a16="http://schemas.microsoft.com/office/drawing/2014/main" id="{CEAE4405-7B82-B257-EB11-812963B2D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289" y="2079625"/>
            <a:ext cx="727075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sp>
        <p:nvSpPr>
          <p:cNvPr id="9" name="Rectangle 485">
            <a:extLst>
              <a:ext uri="{FF2B5EF4-FFF2-40B4-BE49-F238E27FC236}">
                <a16:creationId xmlns:a16="http://schemas.microsoft.com/office/drawing/2014/main" id="{366B6F8E-E154-6C57-6F6C-D21981295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077" y="2079625"/>
            <a:ext cx="1598612" cy="1150938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3600" b="1" dirty="0">
              <a:latin typeface="+mj-lt"/>
            </a:endParaRPr>
          </a:p>
        </p:txBody>
      </p:sp>
      <p:cxnSp>
        <p:nvCxnSpPr>
          <p:cNvPr id="2060" name="Straight Connector 19">
            <a:extLst>
              <a:ext uri="{FF2B5EF4-FFF2-40B4-BE49-F238E27FC236}">
                <a16:creationId xmlns:a16="http://schemas.microsoft.com/office/drawing/2014/main" id="{32D316D1-E810-B1E4-AAD4-AF21E3E49BB3}"/>
              </a:ext>
            </a:extLst>
          </p:cNvPr>
          <p:cNvCxnSpPr>
            <a:cxnSpLocks noChangeShapeType="1"/>
            <a:stCxn id="2141" idx="2"/>
            <a:endCxn id="2136" idx="0"/>
          </p:cNvCxnSpPr>
          <p:nvPr/>
        </p:nvCxnSpPr>
        <p:spPr bwMode="auto">
          <a:xfrm flipV="1">
            <a:off x="3188031" y="2641683"/>
            <a:ext cx="153176" cy="2684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1" name="Line 341">
            <a:extLst>
              <a:ext uri="{FF2B5EF4-FFF2-40B4-BE49-F238E27FC236}">
                <a16:creationId xmlns:a16="http://schemas.microsoft.com/office/drawing/2014/main" id="{502473D4-D76B-399C-14E4-DAE2EC7940E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308389" y="2551183"/>
            <a:ext cx="0" cy="1825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62" name="TextBox 2">
            <a:extLst>
              <a:ext uri="{FF2B5EF4-FFF2-40B4-BE49-F238E27FC236}">
                <a16:creationId xmlns:a16="http://schemas.microsoft.com/office/drawing/2014/main" id="{CDDE2AA1-EBCD-4D08-5F7A-20ABDC5DD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34" y="2725627"/>
            <a:ext cx="304837" cy="52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-</a:t>
            </a:r>
          </a:p>
        </p:txBody>
      </p:sp>
      <p:sp>
        <p:nvSpPr>
          <p:cNvPr id="2063" name="Oval 339">
            <a:extLst>
              <a:ext uri="{FF2B5EF4-FFF2-40B4-BE49-F238E27FC236}">
                <a16:creationId xmlns:a16="http://schemas.microsoft.com/office/drawing/2014/main" id="{7DE9F3F1-7562-4B90-5B30-2FB99E24010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668618" y="2366987"/>
            <a:ext cx="549282" cy="549369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64" name="Line 340">
            <a:extLst>
              <a:ext uri="{FF2B5EF4-FFF2-40B4-BE49-F238E27FC236}">
                <a16:creationId xmlns:a16="http://schemas.microsoft.com/office/drawing/2014/main" id="{51F50068-19DD-9D7C-7E5E-083FCF99AA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576542" y="2551183"/>
            <a:ext cx="0" cy="18256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2065" name="Text Box 346">
            <a:extLst>
              <a:ext uri="{FF2B5EF4-FFF2-40B4-BE49-F238E27FC236}">
                <a16:creationId xmlns:a16="http://schemas.microsoft.com/office/drawing/2014/main" id="{5F047652-C919-F5B3-F379-D714FF81A78D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715793" y="2339779"/>
            <a:ext cx="450856" cy="64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+</a:t>
            </a:r>
          </a:p>
        </p:txBody>
      </p:sp>
      <p:sp>
        <p:nvSpPr>
          <p:cNvPr id="2066" name="Freeform 357">
            <a:extLst>
              <a:ext uri="{FF2B5EF4-FFF2-40B4-BE49-F238E27FC236}">
                <a16:creationId xmlns:a16="http://schemas.microsoft.com/office/drawing/2014/main" id="{414F5F5A-72BA-E132-7C39-F2A33397ACF1}"/>
              </a:ext>
            </a:extLst>
          </p:cNvPr>
          <p:cNvSpPr>
            <a:spLocks/>
          </p:cNvSpPr>
          <p:nvPr/>
        </p:nvSpPr>
        <p:spPr bwMode="auto">
          <a:xfrm rot="10800000">
            <a:off x="1486053" y="2641672"/>
            <a:ext cx="914412" cy="457279"/>
          </a:xfrm>
          <a:custGeom>
            <a:avLst/>
            <a:gdLst>
              <a:gd name="T0" fmla="*/ 0 w 576"/>
              <a:gd name="T1" fmla="*/ 725805000 h 288"/>
              <a:gd name="T2" fmla="*/ 725805000 w 576"/>
              <a:gd name="T3" fmla="*/ 0 h 288"/>
              <a:gd name="T4" fmla="*/ 1451610000 w 576"/>
              <a:gd name="T5" fmla="*/ 725805000 h 288"/>
              <a:gd name="T6" fmla="*/ 0 w 576"/>
              <a:gd name="T7" fmla="*/ 72580500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" h="288">
                <a:moveTo>
                  <a:pt x="0" y="288"/>
                </a:moveTo>
                <a:lnTo>
                  <a:pt x="288" y="0"/>
                </a:lnTo>
                <a:lnTo>
                  <a:pt x="576" y="288"/>
                </a:lnTo>
                <a:lnTo>
                  <a:pt x="0" y="2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67" name="Freeform 229">
            <a:extLst>
              <a:ext uri="{FF2B5EF4-FFF2-40B4-BE49-F238E27FC236}">
                <a16:creationId xmlns:a16="http://schemas.microsoft.com/office/drawing/2014/main" id="{3EED22DC-54AA-EB2D-7628-52ADA41F4E14}"/>
              </a:ext>
            </a:extLst>
          </p:cNvPr>
          <p:cNvSpPr>
            <a:spLocks/>
          </p:cNvSpPr>
          <p:nvPr/>
        </p:nvSpPr>
        <p:spPr bwMode="auto">
          <a:xfrm>
            <a:off x="557739" y="2474913"/>
            <a:ext cx="534988" cy="330200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>
                <a:ea typeface="ＭＳ Ｐゴシック" panose="020B0600070205080204" pitchFamily="50" charset="-128"/>
                <a:cs typeface="Times New Roman" panose="02020603050405020304" pitchFamily="18" charset="0"/>
              </a:rPr>
              <a:t>φin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2068" name="直線矢印コネクタ 17">
            <a:extLst>
              <a:ext uri="{FF2B5EF4-FFF2-40B4-BE49-F238E27FC236}">
                <a16:creationId xmlns:a16="http://schemas.microsoft.com/office/drawing/2014/main" id="{D588AC8B-A0D1-A88B-AFBA-FDBC24449784}"/>
              </a:ext>
            </a:extLst>
          </p:cNvPr>
          <p:cNvCxnSpPr>
            <a:cxnSpLocks noChangeShapeType="1"/>
            <a:stCxn id="2067" idx="3"/>
            <a:endCxn id="2063" idx="6"/>
          </p:cNvCxnSpPr>
          <p:nvPr/>
        </p:nvCxnSpPr>
        <p:spPr bwMode="auto">
          <a:xfrm>
            <a:off x="1093397" y="2638467"/>
            <a:ext cx="575221" cy="3205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69" name="グループ化 18">
            <a:extLst>
              <a:ext uri="{FF2B5EF4-FFF2-40B4-BE49-F238E27FC236}">
                <a16:creationId xmlns:a16="http://schemas.microsoft.com/office/drawing/2014/main" id="{71B74F8F-8431-9708-21F2-FF101844AE6D}"/>
              </a:ext>
            </a:extLst>
          </p:cNvPr>
          <p:cNvGrpSpPr>
            <a:grpSpLocks/>
          </p:cNvGrpSpPr>
          <p:nvPr/>
        </p:nvGrpSpPr>
        <p:grpSpPr bwMode="auto">
          <a:xfrm>
            <a:off x="2273619" y="2276004"/>
            <a:ext cx="914412" cy="733551"/>
            <a:chOff x="2744726" y="3298865"/>
            <a:chExt cx="914400" cy="733425"/>
          </a:xfrm>
        </p:grpSpPr>
        <p:grpSp>
          <p:nvGrpSpPr>
            <p:cNvPr id="2138" name="Group 864">
              <a:extLst>
                <a:ext uri="{FF2B5EF4-FFF2-40B4-BE49-F238E27FC236}">
                  <a16:creationId xmlns:a16="http://schemas.microsoft.com/office/drawing/2014/main" id="{AD3152B5-A5A6-0B72-DA33-F1ED13C91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726" y="3298865"/>
              <a:ext cx="914400" cy="733425"/>
              <a:chOff x="1843" y="1698"/>
              <a:chExt cx="576" cy="462"/>
            </a:xfrm>
          </p:grpSpPr>
          <p:grpSp>
            <p:nvGrpSpPr>
              <p:cNvPr id="2140" name="Group 60">
                <a:extLst>
                  <a:ext uri="{FF2B5EF4-FFF2-40B4-BE49-F238E27FC236}">
                    <a16:creationId xmlns:a16="http://schemas.microsoft.com/office/drawing/2014/main" id="{6677219B-B1AC-109E-B358-A96489FCA0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42" name="Line 55">
                  <a:extLst>
                    <a:ext uri="{FF2B5EF4-FFF2-40B4-BE49-F238E27FC236}">
                      <a16:creationId xmlns:a16="http://schemas.microsoft.com/office/drawing/2014/main" id="{217A1CBC-67B7-BE6A-369C-F0CBA40826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43" name="AutoShape 56">
                  <a:extLst>
                    <a:ext uri="{FF2B5EF4-FFF2-40B4-BE49-F238E27FC236}">
                      <a16:creationId xmlns:a16="http://schemas.microsoft.com/office/drawing/2014/main" id="{F35CF135-4B44-C2BE-D6C4-198BBF5D75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41" name="Freeform 863">
                <a:extLst>
                  <a:ext uri="{FF2B5EF4-FFF2-40B4-BE49-F238E27FC236}">
                    <a16:creationId xmlns:a16="http://schemas.microsoft.com/office/drawing/2014/main" id="{A11C30DE-517A-A130-CA97-151AA80F2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2139" name="Text Box 42">
              <a:extLst>
                <a:ext uri="{FF2B5EF4-FFF2-40B4-BE49-F238E27FC236}">
                  <a16:creationId xmlns:a16="http://schemas.microsoft.com/office/drawing/2014/main" id="{C1F2A73E-56C9-8A0C-C229-1AF917E02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3150" y="3389808"/>
              <a:ext cx="308094" cy="523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cs typeface="Times New Roman" panose="02020603050405020304" pitchFamily="18" charset="0"/>
                </a:rPr>
                <a:t>1</a:t>
              </a:r>
              <a:br>
                <a:rPr lang="en-US" altLang="en-US" sz="1400">
                  <a:cs typeface="Times New Roman" panose="02020603050405020304" pitchFamily="18" charset="0"/>
                </a:rPr>
              </a:br>
              <a:r>
                <a:rPr lang="en-US" altLang="ja-JP" sz="14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π</a:t>
              </a:r>
              <a:endParaRPr lang="en-US" altLang="en-US" sz="1400"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Box 42">
            <a:extLst>
              <a:ext uri="{FF2B5EF4-FFF2-40B4-BE49-F238E27FC236}">
                <a16:creationId xmlns:a16="http://schemas.microsoft.com/office/drawing/2014/main" id="{8D2B228C-8D36-0B36-7A58-1325D5C0E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539" y="2132013"/>
            <a:ext cx="620713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Duty</a:t>
            </a:r>
            <a:br>
              <a:rPr lang="en-US" altLang="en-US" sz="12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-1</a:t>
            </a:r>
            <a:r>
              <a:rPr lang="ja-JP" altLang="en-US" sz="12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ja-JP" sz="1200" dirty="0">
                <a:latin typeface="+mj-lt"/>
                <a:cs typeface="Times New Roman" panose="02020603050405020304" pitchFamily="18" charset="0"/>
              </a:rPr>
              <a:t>to 1</a:t>
            </a:r>
            <a:endParaRPr lang="en-US" altLang="en-US" sz="12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071" name="グループ化 20">
            <a:extLst>
              <a:ext uri="{FF2B5EF4-FFF2-40B4-BE49-F238E27FC236}">
                <a16:creationId xmlns:a16="http://schemas.microsoft.com/office/drawing/2014/main" id="{A3E4ACA1-0A8C-C4C9-79E3-E330F7B19954}"/>
              </a:ext>
            </a:extLst>
          </p:cNvPr>
          <p:cNvGrpSpPr>
            <a:grpSpLocks/>
          </p:cNvGrpSpPr>
          <p:nvPr/>
        </p:nvGrpSpPr>
        <p:grpSpPr bwMode="auto">
          <a:xfrm>
            <a:off x="3341207" y="2274907"/>
            <a:ext cx="914412" cy="733551"/>
            <a:chOff x="3940565" y="3304121"/>
            <a:chExt cx="914400" cy="733425"/>
          </a:xfrm>
        </p:grpSpPr>
        <p:grpSp>
          <p:nvGrpSpPr>
            <p:cNvPr id="2132" name="Group 864">
              <a:extLst>
                <a:ext uri="{FF2B5EF4-FFF2-40B4-BE49-F238E27FC236}">
                  <a16:creationId xmlns:a16="http://schemas.microsoft.com/office/drawing/2014/main" id="{1B79C5F9-9200-C340-5F77-5FA324C296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34" name="Group 60">
                <a:extLst>
                  <a:ext uri="{FF2B5EF4-FFF2-40B4-BE49-F238E27FC236}">
                    <a16:creationId xmlns:a16="http://schemas.microsoft.com/office/drawing/2014/main" id="{097DB002-66B5-B9CA-B768-872F48B6FD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36" name="Line 55">
                  <a:extLst>
                    <a:ext uri="{FF2B5EF4-FFF2-40B4-BE49-F238E27FC236}">
                      <a16:creationId xmlns:a16="http://schemas.microsoft.com/office/drawing/2014/main" id="{3AE8DD67-F433-5ED3-6656-EDFB338D43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37" name="AutoShape 56">
                  <a:extLst>
                    <a:ext uri="{FF2B5EF4-FFF2-40B4-BE49-F238E27FC236}">
                      <a16:creationId xmlns:a16="http://schemas.microsoft.com/office/drawing/2014/main" id="{AA5DF7AB-9D5B-4309-AF0F-2CCE60F9B7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35" name="Freeform 863">
                <a:extLst>
                  <a:ext uri="{FF2B5EF4-FFF2-40B4-BE49-F238E27FC236}">
                    <a16:creationId xmlns:a16="http://schemas.microsoft.com/office/drawing/2014/main" id="{9281FEEB-2901-0074-E60D-613881472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83" name="Text Box 42">
              <a:extLst>
                <a:ext uri="{FF2B5EF4-FFF2-40B4-BE49-F238E27FC236}">
                  <a16:creationId xmlns:a16="http://schemas.microsoft.com/office/drawing/2014/main" id="{97699D87-55E3-353E-9449-5F440E0CB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620" y="3496156"/>
              <a:ext cx="563556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Ibias</a:t>
              </a:r>
              <a:endParaRPr lang="en-US" altLang="en-US" sz="1600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72" name="グループ化 21">
            <a:extLst>
              <a:ext uri="{FF2B5EF4-FFF2-40B4-BE49-F238E27FC236}">
                <a16:creationId xmlns:a16="http://schemas.microsoft.com/office/drawing/2014/main" id="{3ECDAD7F-C495-180B-2495-171072352F5E}"/>
              </a:ext>
            </a:extLst>
          </p:cNvPr>
          <p:cNvGrpSpPr>
            <a:grpSpLocks/>
          </p:cNvGrpSpPr>
          <p:nvPr/>
        </p:nvGrpSpPr>
        <p:grpSpPr bwMode="auto">
          <a:xfrm>
            <a:off x="7583665" y="2279288"/>
            <a:ext cx="1012838" cy="733551"/>
            <a:chOff x="5645385" y="3311463"/>
            <a:chExt cx="1012825" cy="733425"/>
          </a:xfrm>
        </p:grpSpPr>
        <p:grpSp>
          <p:nvGrpSpPr>
            <p:cNvPr id="2126" name="Group 864">
              <a:extLst>
                <a:ext uri="{FF2B5EF4-FFF2-40B4-BE49-F238E27FC236}">
                  <a16:creationId xmlns:a16="http://schemas.microsoft.com/office/drawing/2014/main" id="{AF8A5971-8751-C9CA-C9D0-4C80685F34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45385" y="3311463"/>
              <a:ext cx="1012825" cy="733425"/>
              <a:chOff x="1843" y="1698"/>
              <a:chExt cx="638" cy="462"/>
            </a:xfrm>
          </p:grpSpPr>
          <p:grpSp>
            <p:nvGrpSpPr>
              <p:cNvPr id="2128" name="Group 60">
                <a:extLst>
                  <a:ext uri="{FF2B5EF4-FFF2-40B4-BE49-F238E27FC236}">
                    <a16:creationId xmlns:a16="http://schemas.microsoft.com/office/drawing/2014/main" id="{7DBB0A4E-3D65-C613-7710-836C5858DB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2" y="1698"/>
                <a:ext cx="499" cy="461"/>
                <a:chOff x="3595" y="3427"/>
                <a:chExt cx="499" cy="461"/>
              </a:xfrm>
            </p:grpSpPr>
            <p:sp>
              <p:nvSpPr>
                <p:cNvPr id="2130" name="Line 55">
                  <a:extLst>
                    <a:ext uri="{FF2B5EF4-FFF2-40B4-BE49-F238E27FC236}">
                      <a16:creationId xmlns:a16="http://schemas.microsoft.com/office/drawing/2014/main" id="{DA8B4914-9AE2-26DC-11AC-60EFDDBA47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17" y="3653"/>
                  <a:ext cx="17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31" name="AutoShape 56">
                  <a:extLst>
                    <a:ext uri="{FF2B5EF4-FFF2-40B4-BE49-F238E27FC236}">
                      <a16:creationId xmlns:a16="http://schemas.microsoft.com/office/drawing/2014/main" id="{26D84621-A241-B573-7371-30B06C74CB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29" name="Freeform 863">
                <a:extLst>
                  <a:ext uri="{FF2B5EF4-FFF2-40B4-BE49-F238E27FC236}">
                    <a16:creationId xmlns:a16="http://schemas.microsoft.com/office/drawing/2014/main" id="{7C6105A9-D020-6845-529D-B27ACD5EB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77" name="Text Box 42">
              <a:extLst>
                <a:ext uri="{FF2B5EF4-FFF2-40B4-BE49-F238E27FC236}">
                  <a16:creationId xmlns:a16="http://schemas.microsoft.com/office/drawing/2014/main" id="{E7CF6E08-D217-65A2-7EFB-E67453799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1731" y="3517636"/>
              <a:ext cx="584192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Kvco</a:t>
              </a:r>
            </a:p>
          </p:txBody>
        </p:sp>
      </p:grpSp>
      <p:sp>
        <p:nvSpPr>
          <p:cNvPr id="2074" name="Freeform 863">
            <a:extLst>
              <a:ext uri="{FF2B5EF4-FFF2-40B4-BE49-F238E27FC236}">
                <a16:creationId xmlns:a16="http://schemas.microsoft.com/office/drawing/2014/main" id="{C3D2CC1E-E7C6-2452-72ED-E51128C8EA3F}"/>
              </a:ext>
            </a:extLst>
          </p:cNvPr>
          <p:cNvSpPr>
            <a:spLocks/>
          </p:cNvSpPr>
          <p:nvPr/>
        </p:nvSpPr>
        <p:spPr bwMode="auto">
          <a:xfrm flipH="1">
            <a:off x="4749603" y="4930325"/>
            <a:ext cx="914412" cy="731964"/>
          </a:xfrm>
          <a:custGeom>
            <a:avLst/>
            <a:gdLst>
              <a:gd name="T0" fmla="*/ 0 w 576"/>
              <a:gd name="T1" fmla="*/ 582157285 h 461"/>
              <a:gd name="T2" fmla="*/ 289818763 w 576"/>
              <a:gd name="T3" fmla="*/ 1161793619 h 461"/>
              <a:gd name="T4" fmla="*/ 1451610000 w 576"/>
              <a:gd name="T5" fmla="*/ 582157285 h 461"/>
              <a:gd name="T6" fmla="*/ 289818763 w 576"/>
              <a:gd name="T7" fmla="*/ 0 h 461"/>
              <a:gd name="T8" fmla="*/ 0 w 576"/>
              <a:gd name="T9" fmla="*/ 582157285 h 4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" h="461">
                <a:moveTo>
                  <a:pt x="0" y="231"/>
                </a:moveTo>
                <a:lnTo>
                  <a:pt x="115" y="461"/>
                </a:lnTo>
                <a:lnTo>
                  <a:pt x="576" y="231"/>
                </a:lnTo>
                <a:lnTo>
                  <a:pt x="115" y="0"/>
                </a:lnTo>
                <a:lnTo>
                  <a:pt x="0" y="231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DEA1261C-F012-9D5D-F0EF-651C88352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6302" y="1727200"/>
            <a:ext cx="46839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PD</a:t>
            </a:r>
          </a:p>
        </p:txBody>
      </p:sp>
      <p:sp>
        <p:nvSpPr>
          <p:cNvPr id="27" name="Text Box 42">
            <a:extLst>
              <a:ext uri="{FF2B5EF4-FFF2-40B4-BE49-F238E27FC236}">
                <a16:creationId xmlns:a16="http://schemas.microsoft.com/office/drawing/2014/main" id="{251D01FD-9C6A-215F-9325-450B2346D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6977" y="1481138"/>
            <a:ext cx="8890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Charge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 pump</a:t>
            </a:r>
          </a:p>
        </p:txBody>
      </p:sp>
      <p:grpSp>
        <p:nvGrpSpPr>
          <p:cNvPr id="2079" name="グループ化 28">
            <a:extLst>
              <a:ext uri="{FF2B5EF4-FFF2-40B4-BE49-F238E27FC236}">
                <a16:creationId xmlns:a16="http://schemas.microsoft.com/office/drawing/2014/main" id="{459284D1-0524-FB01-211D-1E35D157F3DA}"/>
              </a:ext>
            </a:extLst>
          </p:cNvPr>
          <p:cNvGrpSpPr>
            <a:grpSpLocks/>
          </p:cNvGrpSpPr>
          <p:nvPr/>
        </p:nvGrpSpPr>
        <p:grpSpPr bwMode="auto">
          <a:xfrm>
            <a:off x="4603834" y="2274907"/>
            <a:ext cx="914412" cy="733551"/>
            <a:chOff x="3940565" y="3304121"/>
            <a:chExt cx="914400" cy="733425"/>
          </a:xfrm>
        </p:grpSpPr>
        <p:grpSp>
          <p:nvGrpSpPr>
            <p:cNvPr id="2120" name="Group 864">
              <a:extLst>
                <a:ext uri="{FF2B5EF4-FFF2-40B4-BE49-F238E27FC236}">
                  <a16:creationId xmlns:a16="http://schemas.microsoft.com/office/drawing/2014/main" id="{B089E8A7-6ED4-C766-6814-BB645CA342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22" name="Group 60">
                <a:extLst>
                  <a:ext uri="{FF2B5EF4-FFF2-40B4-BE49-F238E27FC236}">
                    <a16:creationId xmlns:a16="http://schemas.microsoft.com/office/drawing/2014/main" id="{0D29E67A-6EE9-C0F5-C76B-98C5942FD2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24" name="Line 55">
                  <a:extLst>
                    <a:ext uri="{FF2B5EF4-FFF2-40B4-BE49-F238E27FC236}">
                      <a16:creationId xmlns:a16="http://schemas.microsoft.com/office/drawing/2014/main" id="{6F2946D0-4AD6-0340-C92D-25A929569F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25" name="AutoShape 56">
                  <a:extLst>
                    <a:ext uri="{FF2B5EF4-FFF2-40B4-BE49-F238E27FC236}">
                      <a16:creationId xmlns:a16="http://schemas.microsoft.com/office/drawing/2014/main" id="{E133333D-E49D-0DE9-522C-BEEA9BF49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23" name="Freeform 863">
                <a:extLst>
                  <a:ext uri="{FF2B5EF4-FFF2-40B4-BE49-F238E27FC236}">
                    <a16:creationId xmlns:a16="http://schemas.microsoft.com/office/drawing/2014/main" id="{AA0BB796-B7D1-09FA-1B4E-13CA1D69C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71" name="Text Box 42">
              <a:extLst>
                <a:ext uri="{FF2B5EF4-FFF2-40B4-BE49-F238E27FC236}">
                  <a16:creationId xmlns:a16="http://schemas.microsoft.com/office/drawing/2014/main" id="{7D483EB4-5757-AC14-261B-45A6B0A4E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218" y="3540598"/>
              <a:ext cx="414333" cy="307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R1</a:t>
              </a:r>
            </a:p>
          </p:txBody>
        </p:sp>
      </p:grpSp>
      <p:cxnSp>
        <p:nvCxnSpPr>
          <p:cNvPr id="2080" name="直線コネクタ 29">
            <a:extLst>
              <a:ext uri="{FF2B5EF4-FFF2-40B4-BE49-F238E27FC236}">
                <a16:creationId xmlns:a16="http://schemas.microsoft.com/office/drawing/2014/main" id="{3A861C54-3DA1-2EF1-9AE3-91B5048ACFF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547950" y="2641398"/>
            <a:ext cx="311031" cy="649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 Box 42">
            <a:extLst>
              <a:ext uri="{FF2B5EF4-FFF2-40B4-BE49-F238E27FC236}">
                <a16:creationId xmlns:a16="http://schemas.microsoft.com/office/drawing/2014/main" id="{5A63A832-3B5B-21BE-95F1-7BDD95CC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952" y="2132013"/>
            <a:ext cx="1096962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Current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-Ibias to Ibias</a:t>
            </a:r>
          </a:p>
        </p:txBody>
      </p:sp>
      <p:sp>
        <p:nvSpPr>
          <p:cNvPr id="33" name="Text Box 42">
            <a:extLst>
              <a:ext uri="{FF2B5EF4-FFF2-40B4-BE49-F238E27FC236}">
                <a16:creationId xmlns:a16="http://schemas.microsoft.com/office/drawing/2014/main" id="{33887AE5-0A44-8B27-291B-11052EACD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989" y="2132013"/>
            <a:ext cx="695325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Voltage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Vin</a:t>
            </a:r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F7C56AF8-6317-53D0-C5AA-E239DD48F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577" y="2290763"/>
            <a:ext cx="619125" cy="277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Phase</a:t>
            </a:r>
          </a:p>
        </p:txBody>
      </p:sp>
      <p:sp>
        <p:nvSpPr>
          <p:cNvPr id="35" name="Text Box 42">
            <a:extLst>
              <a:ext uri="{FF2B5EF4-FFF2-40B4-BE49-F238E27FC236}">
                <a16:creationId xmlns:a16="http://schemas.microsoft.com/office/drawing/2014/main" id="{ABDDE13E-CE39-418F-1421-D47DEFE79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36" y="1865313"/>
            <a:ext cx="833883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Antena</a:t>
            </a:r>
            <a:br>
              <a:rPr lang="en-US" altLang="en-US" sz="16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in</a:t>
            </a:r>
          </a:p>
        </p:txBody>
      </p:sp>
      <p:cxnSp>
        <p:nvCxnSpPr>
          <p:cNvPr id="2086" name="Straight Connector 19">
            <a:extLst>
              <a:ext uri="{FF2B5EF4-FFF2-40B4-BE49-F238E27FC236}">
                <a16:creationId xmlns:a16="http://schemas.microsoft.com/office/drawing/2014/main" id="{E92A616E-1924-3524-D0C8-2EF9E713AAA0}"/>
              </a:ext>
            </a:extLst>
          </p:cNvPr>
          <p:cNvCxnSpPr>
            <a:cxnSpLocks noChangeShapeType="1"/>
            <a:stCxn id="2136" idx="1"/>
            <a:endCxn id="2124" idx="0"/>
          </p:cNvCxnSpPr>
          <p:nvPr/>
        </p:nvCxnSpPr>
        <p:spPr bwMode="auto">
          <a:xfrm flipV="1">
            <a:off x="4255618" y="2641683"/>
            <a:ext cx="348215" cy="1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87" name="Rectangle 485">
            <a:extLst>
              <a:ext uri="{FF2B5EF4-FFF2-40B4-BE49-F238E27FC236}">
                <a16:creationId xmlns:a16="http://schemas.microsoft.com/office/drawing/2014/main" id="{2679F9CD-FF20-DB19-C26A-D5D7A848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246" y="3442727"/>
            <a:ext cx="655930" cy="731638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3600" b="1">
                <a:ea typeface="ＭＳ Ｐゴシック" panose="020B0600070205080204" pitchFamily="50" charset="-128"/>
              </a:rPr>
              <a:t>∫</a:t>
            </a:r>
            <a:endParaRPr lang="en-US" altLang="en-US" sz="3600" b="1"/>
          </a:p>
        </p:txBody>
      </p:sp>
      <p:grpSp>
        <p:nvGrpSpPr>
          <p:cNvPr id="2088" name="グループ化 37">
            <a:extLst>
              <a:ext uri="{FF2B5EF4-FFF2-40B4-BE49-F238E27FC236}">
                <a16:creationId xmlns:a16="http://schemas.microsoft.com/office/drawing/2014/main" id="{4AAEC720-342F-D280-59CC-4E0C0FBEAED0}"/>
              </a:ext>
            </a:extLst>
          </p:cNvPr>
          <p:cNvGrpSpPr>
            <a:grpSpLocks/>
          </p:cNvGrpSpPr>
          <p:nvPr/>
        </p:nvGrpSpPr>
        <p:grpSpPr bwMode="auto">
          <a:xfrm>
            <a:off x="4603834" y="3425778"/>
            <a:ext cx="914412" cy="733551"/>
            <a:chOff x="3940565" y="3304121"/>
            <a:chExt cx="914400" cy="733425"/>
          </a:xfrm>
        </p:grpSpPr>
        <p:grpSp>
          <p:nvGrpSpPr>
            <p:cNvPr id="2114" name="Group 864">
              <a:extLst>
                <a:ext uri="{FF2B5EF4-FFF2-40B4-BE49-F238E27FC236}">
                  <a16:creationId xmlns:a16="http://schemas.microsoft.com/office/drawing/2014/main" id="{2AEDF77A-52AC-3ED2-2920-8C3CA780F5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0565" y="3304121"/>
              <a:ext cx="914400" cy="733425"/>
              <a:chOff x="1843" y="1698"/>
              <a:chExt cx="576" cy="462"/>
            </a:xfrm>
          </p:grpSpPr>
          <p:grpSp>
            <p:nvGrpSpPr>
              <p:cNvPr id="2116" name="Group 60">
                <a:extLst>
                  <a:ext uri="{FF2B5EF4-FFF2-40B4-BE49-F238E27FC236}">
                    <a16:creationId xmlns:a16="http://schemas.microsoft.com/office/drawing/2014/main" id="{55022E43-9332-9570-ADE8-85C52E29BF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3" y="1698"/>
                <a:ext cx="576" cy="461"/>
                <a:chOff x="3456" y="3427"/>
                <a:chExt cx="576" cy="461"/>
              </a:xfrm>
            </p:grpSpPr>
            <p:sp>
              <p:nvSpPr>
                <p:cNvPr id="2118" name="Line 55">
                  <a:extLst>
                    <a:ext uri="{FF2B5EF4-FFF2-40B4-BE49-F238E27FC236}">
                      <a16:creationId xmlns:a16="http://schemas.microsoft.com/office/drawing/2014/main" id="{7EC4FAAD-F57E-4EB7-7060-99E9CF8725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6" y="3658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19" name="AutoShape 56">
                  <a:extLst>
                    <a:ext uri="{FF2B5EF4-FFF2-40B4-BE49-F238E27FC236}">
                      <a16:creationId xmlns:a16="http://schemas.microsoft.com/office/drawing/2014/main" id="{C4044AED-A225-BD07-91F1-59E7E42D4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25" y="3497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</p:grpSp>
          <p:sp>
            <p:nvSpPr>
              <p:cNvPr id="2117" name="Freeform 863">
                <a:extLst>
                  <a:ext uri="{FF2B5EF4-FFF2-40B4-BE49-F238E27FC236}">
                    <a16:creationId xmlns:a16="http://schemas.microsoft.com/office/drawing/2014/main" id="{F0887252-9A2D-7232-8A05-14A7526EC4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3" y="1699"/>
                <a:ext cx="576" cy="461"/>
              </a:xfrm>
              <a:custGeom>
                <a:avLst/>
                <a:gdLst>
                  <a:gd name="T0" fmla="*/ 0 w 576"/>
                  <a:gd name="T1" fmla="*/ 231 h 461"/>
                  <a:gd name="T2" fmla="*/ 115 w 576"/>
                  <a:gd name="T3" fmla="*/ 461 h 461"/>
                  <a:gd name="T4" fmla="*/ 576 w 576"/>
                  <a:gd name="T5" fmla="*/ 231 h 461"/>
                  <a:gd name="T6" fmla="*/ 115 w 576"/>
                  <a:gd name="T7" fmla="*/ 0 h 461"/>
                  <a:gd name="T8" fmla="*/ 0 w 576"/>
                  <a:gd name="T9" fmla="*/ 231 h 4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461">
                    <a:moveTo>
                      <a:pt x="0" y="231"/>
                    </a:moveTo>
                    <a:lnTo>
                      <a:pt x="115" y="461"/>
                    </a:lnTo>
                    <a:lnTo>
                      <a:pt x="576" y="231"/>
                    </a:lnTo>
                    <a:lnTo>
                      <a:pt x="115" y="0"/>
                    </a:lnTo>
                    <a:lnTo>
                      <a:pt x="0" y="231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65" name="Text Box 42">
              <a:extLst>
                <a:ext uri="{FF2B5EF4-FFF2-40B4-BE49-F238E27FC236}">
                  <a16:creationId xmlns:a16="http://schemas.microsoft.com/office/drawing/2014/main" id="{0198EAAC-EE7E-7609-8F6E-1F5367490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056" y="3404164"/>
              <a:ext cx="414332" cy="5221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1</a:t>
              </a:r>
              <a:br>
                <a:rPr lang="en-US" altLang="en-US" sz="14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400" dirty="0">
                  <a:latin typeface="+mj-lt"/>
                  <a:cs typeface="Times New Roman" panose="02020603050405020304" pitchFamily="18" charset="0"/>
                </a:rPr>
                <a:t>C1</a:t>
              </a:r>
            </a:p>
          </p:txBody>
        </p:sp>
      </p:grpSp>
      <p:cxnSp>
        <p:nvCxnSpPr>
          <p:cNvPr id="2089" name="直線コネクタ 38">
            <a:extLst>
              <a:ext uri="{FF2B5EF4-FFF2-40B4-BE49-F238E27FC236}">
                <a16:creationId xmlns:a16="http://schemas.microsoft.com/office/drawing/2014/main" id="{EC5DEFF6-DD8F-4FF6-DFC7-C708E67909A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76216" y="3793191"/>
            <a:ext cx="311031" cy="6496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07" name="Group 347">
            <a:extLst>
              <a:ext uri="{FF2B5EF4-FFF2-40B4-BE49-F238E27FC236}">
                <a16:creationId xmlns:a16="http://schemas.microsoft.com/office/drawing/2014/main" id="{CAD8477C-4B76-23A7-5A3E-386E395FECD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5893670" y="2332056"/>
            <a:ext cx="1909788" cy="766895"/>
            <a:chOff x="525" y="3600"/>
            <a:chExt cx="1203" cy="483"/>
          </a:xfrm>
        </p:grpSpPr>
        <p:sp>
          <p:nvSpPr>
            <p:cNvPr id="2109" name="Oval 339">
              <a:extLst>
                <a:ext uri="{FF2B5EF4-FFF2-40B4-BE49-F238E27FC236}">
                  <a16:creationId xmlns:a16="http://schemas.microsoft.com/office/drawing/2014/main" id="{58FE3A9C-D17D-9FB0-7986-63520728D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3715"/>
              <a:ext cx="346" cy="34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10" name="Line 340">
              <a:extLst>
                <a:ext uri="{FF2B5EF4-FFF2-40B4-BE49-F238E27FC236}">
                  <a16:creationId xmlns:a16="http://schemas.microsoft.com/office/drawing/2014/main" id="{34FEDF80-B5F6-192C-3AB0-DBEDDC0B21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71" y="3830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1" name="Line 341">
              <a:extLst>
                <a:ext uri="{FF2B5EF4-FFF2-40B4-BE49-F238E27FC236}">
                  <a16:creationId xmlns:a16="http://schemas.microsoft.com/office/drawing/2014/main" id="{53982904-C235-688E-13B2-DE59B1537F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6" y="3516"/>
              <a:ext cx="0" cy="7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2" name="Line 345">
              <a:extLst>
                <a:ext uri="{FF2B5EF4-FFF2-40B4-BE49-F238E27FC236}">
                  <a16:creationId xmlns:a16="http://schemas.microsoft.com/office/drawing/2014/main" id="{12177063-C211-7605-2F22-855F58537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600"/>
              <a:ext cx="0" cy="1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13" name="Text Box 346">
              <a:extLst>
                <a:ext uri="{FF2B5EF4-FFF2-40B4-BE49-F238E27FC236}">
                  <a16:creationId xmlns:a16="http://schemas.microsoft.com/office/drawing/2014/main" id="{264B22D6-EA96-9712-0536-E61D35467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3679"/>
              <a:ext cx="2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/>
                <a:t>+</a:t>
              </a:r>
            </a:p>
          </p:txBody>
        </p:sp>
      </p:grpSp>
      <p:cxnSp>
        <p:nvCxnSpPr>
          <p:cNvPr id="2091" name="Straight Connector 19">
            <a:extLst>
              <a:ext uri="{FF2B5EF4-FFF2-40B4-BE49-F238E27FC236}">
                <a16:creationId xmlns:a16="http://schemas.microsoft.com/office/drawing/2014/main" id="{7D0F531F-FA22-B0F6-DC87-28D58A8BF201}"/>
              </a:ext>
            </a:extLst>
          </p:cNvPr>
          <p:cNvCxnSpPr>
            <a:cxnSpLocks noChangeShapeType="1"/>
            <a:stCxn id="2124" idx="1"/>
            <a:endCxn id="2110" idx="0"/>
          </p:cNvCxnSpPr>
          <p:nvPr/>
        </p:nvCxnSpPr>
        <p:spPr bwMode="auto">
          <a:xfrm>
            <a:off x="5518246" y="2641684"/>
            <a:ext cx="374633" cy="782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2" name="コネクタ: カギ線 41">
            <a:extLst>
              <a:ext uri="{FF2B5EF4-FFF2-40B4-BE49-F238E27FC236}">
                <a16:creationId xmlns:a16="http://schemas.microsoft.com/office/drawing/2014/main" id="{696449FF-68B9-B958-94BC-0D0FD3F9001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994978" y="3190832"/>
            <a:ext cx="1156414" cy="61297"/>
          </a:xfrm>
          <a:prstGeom prst="bentConnector3">
            <a:avLst>
              <a:gd name="adj1" fmla="val 99431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3" name="Oval 813">
            <a:extLst>
              <a:ext uri="{FF2B5EF4-FFF2-40B4-BE49-F238E27FC236}">
                <a16:creationId xmlns:a16="http://schemas.microsoft.com/office/drawing/2014/main" id="{F9820CC9-9A07-E760-11E6-21B49EB5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000" y="2596420"/>
            <a:ext cx="92076" cy="9209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2094" name="コネクタ: カギ線 43">
            <a:extLst>
              <a:ext uri="{FF2B5EF4-FFF2-40B4-BE49-F238E27FC236}">
                <a16:creationId xmlns:a16="http://schemas.microsoft.com/office/drawing/2014/main" id="{6CB8EF0D-0616-68CE-EB96-02A25F194AA0}"/>
              </a:ext>
            </a:extLst>
          </p:cNvPr>
          <p:cNvCxnSpPr>
            <a:cxnSpLocks noChangeShapeType="1"/>
            <a:stCxn id="2087" idx="3"/>
            <a:endCxn id="2112" idx="0"/>
          </p:cNvCxnSpPr>
          <p:nvPr/>
        </p:nvCxnSpPr>
        <p:spPr bwMode="auto">
          <a:xfrm flipV="1">
            <a:off x="6174176" y="3098951"/>
            <a:ext cx="176701" cy="709595"/>
          </a:xfrm>
          <a:prstGeom prst="bentConnector4">
            <a:avLst>
              <a:gd name="adj1" fmla="val 50000"/>
              <a:gd name="adj2" fmla="val 5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97" name="Freeform 229">
            <a:extLst>
              <a:ext uri="{FF2B5EF4-FFF2-40B4-BE49-F238E27FC236}">
                <a16:creationId xmlns:a16="http://schemas.microsoft.com/office/drawing/2014/main" id="{F487685D-D489-E905-7F87-969B406F576D}"/>
              </a:ext>
            </a:extLst>
          </p:cNvPr>
          <p:cNvSpPr>
            <a:spLocks/>
          </p:cNvSpPr>
          <p:nvPr/>
        </p:nvSpPr>
        <p:spPr bwMode="auto">
          <a:xfrm>
            <a:off x="10719770" y="2466974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lf_out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48" name="Text Box 42">
            <a:extLst>
              <a:ext uri="{FF2B5EF4-FFF2-40B4-BE49-F238E27FC236}">
                <a16:creationId xmlns:a16="http://schemas.microsoft.com/office/drawing/2014/main" id="{BC47C4F2-A5E7-B7C4-42D3-E7FD27749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0848" y="2774950"/>
            <a:ext cx="171232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FM Demodulator</a:t>
            </a:r>
            <a:br>
              <a:rPr lang="en-US" altLang="en-US" sz="1600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 out</a:t>
            </a:r>
          </a:p>
        </p:txBody>
      </p:sp>
      <p:sp>
        <p:nvSpPr>
          <p:cNvPr id="50" name="Text Box 42">
            <a:extLst>
              <a:ext uri="{FF2B5EF4-FFF2-40B4-BE49-F238E27FC236}">
                <a16:creationId xmlns:a16="http://schemas.microsoft.com/office/drawing/2014/main" id="{27CBD16B-EECB-02DF-BB38-52CC56906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414" y="1485418"/>
            <a:ext cx="212407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External</a:t>
            </a:r>
            <a:br>
              <a:rPr lang="en-US" altLang="en-US" sz="1600" b="1" dirty="0">
                <a:latin typeface="+mj-lt"/>
                <a:cs typeface="Times New Roman" panose="02020603050405020304" pitchFamily="18" charset="0"/>
              </a:rPr>
            </a:b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Loop filter</a:t>
            </a:r>
          </a:p>
        </p:txBody>
      </p:sp>
      <p:cxnSp>
        <p:nvCxnSpPr>
          <p:cNvPr id="2101" name="コネクタ: カギ線 50">
            <a:extLst>
              <a:ext uri="{FF2B5EF4-FFF2-40B4-BE49-F238E27FC236}">
                <a16:creationId xmlns:a16="http://schemas.microsoft.com/office/drawing/2014/main" id="{A0D1B96A-C575-6654-2E62-EC426BC71A4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338830" y="2979554"/>
            <a:ext cx="3523032" cy="2373988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 Box 42">
            <a:extLst>
              <a:ext uri="{FF2B5EF4-FFF2-40B4-BE49-F238E27FC236}">
                <a16:creationId xmlns:a16="http://schemas.microsoft.com/office/drawing/2014/main" id="{455DF4D8-8A98-6D06-029A-5219C6E99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284" y="4950211"/>
            <a:ext cx="619125" cy="2778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Phase</a:t>
            </a:r>
          </a:p>
        </p:txBody>
      </p:sp>
      <p:grpSp>
        <p:nvGrpSpPr>
          <p:cNvPr id="13" name="Group 358">
            <a:extLst>
              <a:ext uri="{FF2B5EF4-FFF2-40B4-BE49-F238E27FC236}">
                <a16:creationId xmlns:a16="http://schemas.microsoft.com/office/drawing/2014/main" id="{E3DCABD1-77D9-3A9A-9A27-78087E4B6DEC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8429815" y="2331344"/>
            <a:ext cx="914412" cy="766895"/>
            <a:chOff x="749" y="3427"/>
            <a:chExt cx="576" cy="483"/>
          </a:xfrm>
        </p:grpSpPr>
        <p:grpSp>
          <p:nvGrpSpPr>
            <p:cNvPr id="14" name="Group 347">
              <a:extLst>
                <a:ext uri="{FF2B5EF4-FFF2-40B4-BE49-F238E27FC236}">
                  <a16:creationId xmlns:a16="http://schemas.microsoft.com/office/drawing/2014/main" id="{027D30BB-0DF5-4B36-0D7D-9A94966D2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" y="3506"/>
              <a:ext cx="461" cy="404"/>
              <a:chOff x="1152" y="3679"/>
              <a:chExt cx="461" cy="404"/>
            </a:xfrm>
          </p:grpSpPr>
          <p:sp>
            <p:nvSpPr>
              <p:cNvPr id="16" name="Oval 339">
                <a:extLst>
                  <a:ext uri="{FF2B5EF4-FFF2-40B4-BE49-F238E27FC236}">
                    <a16:creationId xmlns:a16="http://schemas.microsoft.com/office/drawing/2014/main" id="{88DB8611-84F2-6C35-0863-59E5A45E3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715"/>
                <a:ext cx="346" cy="3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" name="Line 341">
                <a:extLst>
                  <a:ext uri="{FF2B5EF4-FFF2-40B4-BE49-F238E27FC236}">
                    <a16:creationId xmlns:a16="http://schemas.microsoft.com/office/drawing/2014/main" id="{742010F3-639F-AA94-AD01-29D7634D7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210" y="383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 Box 346">
                <a:extLst>
                  <a:ext uri="{FF2B5EF4-FFF2-40B4-BE49-F238E27FC236}">
                    <a16:creationId xmlns:a16="http://schemas.microsoft.com/office/drawing/2014/main" id="{A6908122-7104-8A72-3BB5-9660893B4F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679"/>
                <a:ext cx="2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 dirty="0"/>
                  <a:t>+</a:t>
                </a:r>
              </a:p>
            </p:txBody>
          </p:sp>
        </p:grpSp>
        <p:sp>
          <p:nvSpPr>
            <p:cNvPr id="15" name="Freeform 357">
              <a:extLst>
                <a:ext uri="{FF2B5EF4-FFF2-40B4-BE49-F238E27FC236}">
                  <a16:creationId xmlns:a16="http://schemas.microsoft.com/office/drawing/2014/main" id="{589DF578-9618-7359-F2AF-2D37BFDA4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" y="3427"/>
              <a:ext cx="576" cy="288"/>
            </a:xfrm>
            <a:custGeom>
              <a:avLst/>
              <a:gdLst>
                <a:gd name="T0" fmla="*/ 0 w 576"/>
                <a:gd name="T1" fmla="*/ 288 h 288"/>
                <a:gd name="T2" fmla="*/ 288 w 576"/>
                <a:gd name="T3" fmla="*/ 0 h 288"/>
                <a:gd name="T4" fmla="*/ 576 w 576"/>
                <a:gd name="T5" fmla="*/ 288 h 288"/>
                <a:gd name="T6" fmla="*/ 0 w 576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4DAF3127-15CF-4F9B-13D8-4D2C447FF8C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162925" y="3373049"/>
            <a:ext cx="1188695" cy="277080"/>
          </a:xfrm>
          <a:prstGeom prst="bentConnector3">
            <a:avLst>
              <a:gd name="adj1" fmla="val -1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 Box 42">
            <a:extLst>
              <a:ext uri="{FF2B5EF4-FFF2-40B4-BE49-F238E27FC236}">
                <a16:creationId xmlns:a16="http://schemas.microsoft.com/office/drawing/2014/main" id="{B872ABB1-D91E-FDF5-1353-F81982C50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7021" y="3867590"/>
            <a:ext cx="69602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latin typeface="+mj-lt"/>
                <a:cs typeface="Times New Roman" panose="02020603050405020304" pitchFamily="18" charset="0"/>
              </a:rPr>
              <a:t>Current</a:t>
            </a:r>
          </a:p>
        </p:txBody>
      </p:sp>
      <p:sp>
        <p:nvSpPr>
          <p:cNvPr id="11" name="Oval 813">
            <a:extLst>
              <a:ext uri="{FF2B5EF4-FFF2-40B4-BE49-F238E27FC236}">
                <a16:creationId xmlns:a16="http://schemas.microsoft.com/office/drawing/2014/main" id="{AB725DDB-A117-5F58-F097-037757844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269" y="2596420"/>
            <a:ext cx="92076" cy="9209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12" name="コネクタ: カギ線 52">
            <a:extLst>
              <a:ext uri="{FF2B5EF4-FFF2-40B4-BE49-F238E27FC236}">
                <a16:creationId xmlns:a16="http://schemas.microsoft.com/office/drawing/2014/main" id="{DD4378F7-9B46-4335-A45F-BCB21FD8F18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7948" y="877250"/>
            <a:ext cx="3500" cy="3462781"/>
          </a:xfrm>
          <a:prstGeom prst="bentConnector4">
            <a:avLst>
              <a:gd name="adj1" fmla="val 32173343"/>
              <a:gd name="adj2" fmla="val 94450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reeform 229">
            <a:extLst>
              <a:ext uri="{FF2B5EF4-FFF2-40B4-BE49-F238E27FC236}">
                <a16:creationId xmlns:a16="http://schemas.microsoft.com/office/drawing/2014/main" id="{089A74CB-9A53-D80A-F9CB-8EE398C3EE67}"/>
              </a:ext>
            </a:extLst>
          </p:cNvPr>
          <p:cNvSpPr>
            <a:spLocks/>
          </p:cNvSpPr>
          <p:nvPr/>
        </p:nvSpPr>
        <p:spPr bwMode="auto">
          <a:xfrm>
            <a:off x="2800144" y="1102169"/>
            <a:ext cx="1189426" cy="329671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74149 w 288"/>
              <a:gd name="T5" fmla="*/ 330143 h 115"/>
              <a:gd name="T6" fmla="*/ 593717 w 288"/>
              <a:gd name="T7" fmla="*/ 163636 h 115"/>
              <a:gd name="T8" fmla="*/ 474149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600" dirty="0" err="1">
                <a:ea typeface="ＭＳ Ｐゴシック" panose="020B0600070205080204" pitchFamily="50" charset="-128"/>
                <a:cs typeface="Times New Roman" panose="02020603050405020304" pitchFamily="18" charset="0"/>
              </a:rPr>
              <a:t>lf_in</a:t>
            </a:r>
            <a:endParaRPr lang="ja-JP" altLang="en-US" sz="1600" dirty="0"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cxnSp>
        <p:nvCxnSpPr>
          <p:cNvPr id="3" name="コネクタ: カギ線 52">
            <a:extLst>
              <a:ext uri="{FF2B5EF4-FFF2-40B4-BE49-F238E27FC236}">
                <a16:creationId xmlns:a16="http://schemas.microsoft.com/office/drawing/2014/main" id="{4457EDA3-60BB-032C-FEFF-9DC75E82EA08}"/>
              </a:ext>
            </a:extLst>
          </p:cNvPr>
          <p:cNvCxnSpPr>
            <a:cxnSpLocks noChangeShapeType="1"/>
            <a:stCxn id="2093" idx="1"/>
          </p:cNvCxnSpPr>
          <p:nvPr/>
        </p:nvCxnSpPr>
        <p:spPr bwMode="auto">
          <a:xfrm rot="16200000" flipV="1">
            <a:off x="3567737" y="1664159"/>
            <a:ext cx="1317681" cy="573814"/>
          </a:xfrm>
          <a:prstGeom prst="bentConnector3">
            <a:avLst>
              <a:gd name="adj1" fmla="val 101837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Freeform 229">
            <a:extLst>
              <a:ext uri="{FF2B5EF4-FFF2-40B4-BE49-F238E27FC236}">
                <a16:creationId xmlns:a16="http://schemas.microsoft.com/office/drawing/2014/main" id="{1AB68D92-A553-44B3-637F-DCC2739A554B}"/>
              </a:ext>
            </a:extLst>
          </p:cNvPr>
          <p:cNvSpPr>
            <a:spLocks/>
          </p:cNvSpPr>
          <p:nvPr/>
        </p:nvSpPr>
        <p:spPr bwMode="auto">
          <a:xfrm>
            <a:off x="6846558" y="3947577"/>
            <a:ext cx="1799790" cy="320762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ja-JP" sz="1200" dirty="0"/>
              <a:t>CEN_FREQ_CUR</a:t>
            </a:r>
            <a:endParaRPr lang="ja-JP" altLang="en-US" sz="1200" dirty="0"/>
          </a:p>
        </p:txBody>
      </p:sp>
      <p:sp>
        <p:nvSpPr>
          <p:cNvPr id="25" name="Text Box 42">
            <a:extLst>
              <a:ext uri="{FF2B5EF4-FFF2-40B4-BE49-F238E27FC236}">
                <a16:creationId xmlns:a16="http://schemas.microsoft.com/office/drawing/2014/main" id="{F90AA086-8CC1-F72C-FB68-67D7362FF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689" y="4249250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Center Frequency</a:t>
            </a:r>
          </a:p>
        </p:txBody>
      </p:sp>
      <p:sp>
        <p:nvSpPr>
          <p:cNvPr id="28" name="Freeform 229">
            <a:extLst>
              <a:ext uri="{FF2B5EF4-FFF2-40B4-BE49-F238E27FC236}">
                <a16:creationId xmlns:a16="http://schemas.microsoft.com/office/drawing/2014/main" id="{6650C0A2-0AD8-2F19-8D94-A1CEE5533266}"/>
              </a:ext>
            </a:extLst>
          </p:cNvPr>
          <p:cNvSpPr>
            <a:spLocks/>
          </p:cNvSpPr>
          <p:nvPr/>
        </p:nvSpPr>
        <p:spPr bwMode="auto">
          <a:xfrm>
            <a:off x="6531700" y="3225948"/>
            <a:ext cx="1449701" cy="320762"/>
          </a:xfrm>
          <a:custGeom>
            <a:avLst/>
            <a:gdLst>
              <a:gd name="T0" fmla="*/ 0 w 288"/>
              <a:gd name="T1" fmla="*/ 0 h 115"/>
              <a:gd name="T2" fmla="*/ 0 w 288"/>
              <a:gd name="T3" fmla="*/ 330143 h 115"/>
              <a:gd name="T4" fmla="*/ 427242 w 288"/>
              <a:gd name="T5" fmla="*/ 330143 h 115"/>
              <a:gd name="T6" fmla="*/ 534981 w 288"/>
              <a:gd name="T7" fmla="*/ 163636 h 115"/>
              <a:gd name="T8" fmla="*/ 427242 w 288"/>
              <a:gd name="T9" fmla="*/ 0 h 115"/>
              <a:gd name="T10" fmla="*/ 0 w 288"/>
              <a:gd name="T11" fmla="*/ 0 h 1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8"/>
              <a:gd name="T19" fmla="*/ 0 h 115"/>
              <a:gd name="T20" fmla="*/ 288 w 288"/>
              <a:gd name="T21" fmla="*/ 115 h 1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8" h="115">
                <a:moveTo>
                  <a:pt x="0" y="0"/>
                </a:moveTo>
                <a:lnTo>
                  <a:pt x="0" y="115"/>
                </a:lnTo>
                <a:lnTo>
                  <a:pt x="230" y="115"/>
                </a:lnTo>
                <a:lnTo>
                  <a:pt x="288" y="57"/>
                </a:lnTo>
                <a:lnTo>
                  <a:pt x="2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ja-JP" sz="1200" dirty="0"/>
              <a:t>KVCO_ADJ_CUR</a:t>
            </a:r>
            <a:endParaRPr lang="ja-JP" altLang="en-US" sz="1200" dirty="0"/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096271B9-DC61-8A27-2F4F-FFA108F2DB8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736261" y="3041399"/>
            <a:ext cx="549188" cy="124501"/>
          </a:xfrm>
          <a:prstGeom prst="bentConnector3">
            <a:avLst>
              <a:gd name="adj1" fmla="val 926"/>
            </a:avLst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42">
            <a:extLst>
              <a:ext uri="{FF2B5EF4-FFF2-40B4-BE49-F238E27FC236}">
                <a16:creationId xmlns:a16="http://schemas.microsoft.com/office/drawing/2014/main" id="{038D35B5-24A2-9379-3CEC-A30AD449E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532" y="3554795"/>
            <a:ext cx="1878088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+mj-lt"/>
                <a:cs typeface="Times New Roman" panose="02020603050405020304" pitchFamily="18" charset="0"/>
              </a:rPr>
              <a:t>Adjust KVCO</a:t>
            </a: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A6E1838-8CD4-2C49-C8F1-C753875D7833}"/>
              </a:ext>
            </a:extLst>
          </p:cNvPr>
          <p:cNvGrpSpPr/>
          <p:nvPr/>
        </p:nvGrpSpPr>
        <p:grpSpPr>
          <a:xfrm>
            <a:off x="1517725" y="3996798"/>
            <a:ext cx="655930" cy="731638"/>
            <a:chOff x="1517725" y="4005264"/>
            <a:chExt cx="655930" cy="731638"/>
          </a:xfrm>
        </p:grpSpPr>
        <p:sp>
          <p:nvSpPr>
            <p:cNvPr id="2095" name="Rectangle 485">
              <a:extLst>
                <a:ext uri="{FF2B5EF4-FFF2-40B4-BE49-F238E27FC236}">
                  <a16:creationId xmlns:a16="http://schemas.microsoft.com/office/drawing/2014/main" id="{14EC6344-6AB2-E6FF-2881-C6FDF47D2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7725" y="4005264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 dirty="0">
                  <a:ea typeface="ＭＳ Ｐゴシック" panose="020B0600070205080204" pitchFamily="50" charset="-128"/>
                </a:rPr>
                <a:t>BPF</a:t>
              </a:r>
              <a:endParaRPr lang="en-US" altLang="en-US" sz="1600" b="1" dirty="0"/>
            </a:p>
          </p:txBody>
        </p: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BB0B7188-BB57-8013-6D9A-23B70F4564A7}"/>
                </a:ext>
              </a:extLst>
            </p:cNvPr>
            <p:cNvGrpSpPr/>
            <p:nvPr/>
          </p:nvGrpSpPr>
          <p:grpSpPr>
            <a:xfrm>
              <a:off x="1627864" y="4132035"/>
              <a:ext cx="435653" cy="244162"/>
              <a:chOff x="1611241" y="4174365"/>
              <a:chExt cx="435653" cy="244162"/>
            </a:xfrm>
          </p:grpSpPr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E0EFEC8C-932F-F7CC-8833-D0C1EBB4B2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7928" y="4174365"/>
                <a:ext cx="95494" cy="244162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AE62FCC9-E06E-35FA-8243-B6D429E5DF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66011" y="4174365"/>
                <a:ext cx="95494" cy="244162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2267E9FE-D3C7-2ADA-13E7-6F2AC6EFE8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88110" y="4174365"/>
                <a:ext cx="86921" cy="0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FC4F106E-A474-6465-5D3F-400E9F354B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59973" y="4418527"/>
                <a:ext cx="86921" cy="0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9171D8B5-EB37-7E58-6048-ACAB6822AB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11241" y="4418527"/>
                <a:ext cx="86921" cy="0"/>
              </a:xfrm>
              <a:prstGeom prst="line">
                <a:avLst/>
              </a:prstGeom>
              <a:ln w="22225">
                <a:headEnd type="non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44988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02579838-756A-2434-9886-069A9309A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690991"/>
              </p:ext>
            </p:extLst>
          </p:nvPr>
        </p:nvGraphicFramePr>
        <p:xfrm>
          <a:off x="300039" y="1484313"/>
          <a:ext cx="1041379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953">
                  <a:extLst>
                    <a:ext uri="{9D8B030D-6E8A-4147-A177-3AD203B41FA5}">
                      <a16:colId xmlns:a16="http://schemas.microsoft.com/office/drawing/2014/main" val="54991912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98475569"/>
                    </a:ext>
                  </a:extLst>
                </a:gridCol>
                <a:gridCol w="4335780">
                  <a:extLst>
                    <a:ext uri="{9D8B030D-6E8A-4147-A177-3AD203B41FA5}">
                      <a16:colId xmlns:a16="http://schemas.microsoft.com/office/drawing/2014/main" val="1908493959"/>
                    </a:ext>
                  </a:extLst>
                </a:gridCol>
                <a:gridCol w="3874884">
                  <a:extLst>
                    <a:ext uri="{9D8B030D-6E8A-4147-A177-3AD203B41FA5}">
                      <a16:colId xmlns:a16="http://schemas.microsoft.com/office/drawing/2014/main" val="463317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Date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Event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Track Details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Team Formation Deadline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874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Project Proposal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4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July 3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Schematic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3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 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(blocks)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July 17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0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READiness</a:t>
                      </a:r>
                      <a:r>
                        <a:rPr kumimoji="1" lang="en-US" altLang="ja-JP" dirty="0"/>
                        <a:t> Check &amp; Go/No-go Decision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3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14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(blocks)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99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92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Aug.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Verification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9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Chip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1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Submission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87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Upload of Chip Test Results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91245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520C28A6-7F70-A87A-A4B0-8781D2B3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BB472B-6A9E-44B2-131C-35D72B6A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109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1179</Words>
  <Application>Microsoft Office PowerPoint</Application>
  <PresentationFormat>Widescreen</PresentationFormat>
  <Paragraphs>376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ＭＳ Ｐゴシック</vt:lpstr>
      <vt:lpstr>游ゴシック</vt:lpstr>
      <vt:lpstr>Arial</vt:lpstr>
      <vt:lpstr>Times New Roman</vt:lpstr>
      <vt:lpstr>ST PowerPoint Template 16x9</vt:lpstr>
      <vt:lpstr>General purpose PLL 2026  July 4</vt:lpstr>
      <vt:lpstr>Agenda</vt:lpstr>
      <vt:lpstr>Design objective</vt:lpstr>
      <vt:lpstr>System overview</vt:lpstr>
      <vt:lpstr>Specification</vt:lpstr>
      <vt:lpstr>Block diagram - Clock multiplier mode</vt:lpstr>
      <vt:lpstr>Schematic summary - PFD</vt:lpstr>
      <vt:lpstr>Schematic summary – Charge pump</vt:lpstr>
      <vt:lpstr>Schematic summary – Loop filter</vt:lpstr>
      <vt:lpstr>Schematic summary – Buffer</vt:lpstr>
      <vt:lpstr>Simulations of Buffer</vt:lpstr>
      <vt:lpstr>Schematic summary – LPF</vt:lpstr>
      <vt:lpstr>Resistor and Capacitor Value Selection</vt:lpstr>
      <vt:lpstr>Simulation of LPF </vt:lpstr>
      <vt:lpstr>Schematic summary – VCO</vt:lpstr>
      <vt:lpstr>Schematic summary – current source</vt:lpstr>
      <vt:lpstr>Circuit design - VCO</vt:lpstr>
      <vt:lpstr>Circuit design – PFD</vt:lpstr>
      <vt:lpstr>Circuit design - OPAMP</vt:lpstr>
      <vt:lpstr>Circuit design – Beta multiplier reference</vt:lpstr>
      <vt:lpstr>Layout  (T.B.D)</vt:lpstr>
      <vt:lpstr>Evaluation - VCO</vt:lpstr>
      <vt:lpstr>Evaluation - OPAMP</vt:lpstr>
      <vt:lpstr>Application block diagram – FM radio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豊 小谷</dc:creator>
  <cp:lastModifiedBy>Purnendu Chakravarty</cp:lastModifiedBy>
  <cp:revision>155</cp:revision>
  <dcterms:created xsi:type="dcterms:W3CDTF">2026-04-28T12:50:12Z</dcterms:created>
  <dcterms:modified xsi:type="dcterms:W3CDTF">2026-07-08T22:41:28Z</dcterms:modified>
</cp:coreProperties>
</file>